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IBM Plex Mono" panose="020B0509050203000203" pitchFamily="49" charset="0"/>
      <p:regular r:id="rId16"/>
    </p:embeddedFont>
    <p:embeddedFont>
      <p:font typeface="IBM Plex Mono Bold" panose="020B0604020202020204" charset="0"/>
      <p:regular r:id="rId17"/>
    </p:embeddedFont>
    <p:embeddedFont>
      <p:font typeface="IBM Plex Sans" panose="020B0503050203000203" pitchFamily="34" charset="0"/>
      <p:regular r:id="rId18"/>
    </p:embeddedFont>
    <p:embeddedFont>
      <p:font typeface="IBM Plex Sans Bold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946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001250" y="0"/>
            <a:ext cx="8286750" cy="10287000"/>
          </a:xfrm>
          <a:custGeom>
            <a:avLst/>
            <a:gdLst/>
            <a:ahLst/>
            <a:cxnLst/>
            <a:rect l="l" t="t" r="r" b="b"/>
            <a:pathLst>
              <a:path w="8286750" h="10287000">
                <a:moveTo>
                  <a:pt x="0" y="0"/>
                </a:moveTo>
                <a:lnTo>
                  <a:pt x="8286750" y="0"/>
                </a:lnTo>
                <a:lnTo>
                  <a:pt x="82867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4" b="-34"/>
            </a:stretch>
          </a:blipFill>
          <a:ln cap="sq">
            <a:noFill/>
            <a:prstDash val="solid"/>
            <a:miter/>
          </a:ln>
        </p:spPr>
      </p:sp>
      <p:grpSp>
        <p:nvGrpSpPr>
          <p:cNvPr id="3" name="Group 3"/>
          <p:cNvGrpSpPr/>
          <p:nvPr/>
        </p:nvGrpSpPr>
        <p:grpSpPr>
          <a:xfrm>
            <a:off x="8763000" y="0"/>
            <a:ext cx="4953000" cy="10287000"/>
            <a:chOff x="0" y="0"/>
            <a:chExt cx="660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604000" cy="13716000"/>
            </a:xfrm>
            <a:custGeom>
              <a:avLst/>
              <a:gdLst/>
              <a:ahLst/>
              <a:cxnLst/>
              <a:rect l="l" t="t" r="r" b="b"/>
              <a:pathLst>
                <a:path w="6604000" h="13716000">
                  <a:moveTo>
                    <a:pt x="0" y="0"/>
                  </a:moveTo>
                  <a:lnTo>
                    <a:pt x="6604000" y="0"/>
                  </a:lnTo>
                  <a:lnTo>
                    <a:pt x="6604000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1">
              <a:gsLst>
                <a:gs pos="0">
                  <a:srgbClr val="0D1117">
                    <a:alpha val="100000"/>
                  </a:srgbClr>
                </a:gs>
                <a:gs pos="100000">
                  <a:srgbClr val="0D1117">
                    <a:alpha val="0"/>
                  </a:srgbClr>
                </a:gs>
              </a:gsLst>
              <a:lin ang="16200000"/>
            </a:gra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660400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14400" y="847725"/>
            <a:ext cx="7429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08">
                <a:solidFill>
                  <a:srgbClr val="2F81F7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IBM BOB 2.0 HACKATHON 2026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400" y="2247900"/>
            <a:ext cx="9144000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80"/>
              </a:lnSpc>
            </a:pPr>
            <a:r>
              <a:rPr lang="en-US" sz="8400" b="1">
                <a:solidFill>
                  <a:srgbClr val="F0F6FC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CODEPILOT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400" y="3448050"/>
            <a:ext cx="7620000" cy="908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28"/>
              </a:lnSpc>
            </a:pPr>
            <a:r>
              <a:rPr lang="en-US" sz="3150" b="1">
                <a:solidFill>
                  <a:srgbClr val="F0F6FC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AI-Assisted Developer Workflow</a:t>
            </a:r>
          </a:p>
          <a:p>
            <a:pPr algn="l">
              <a:lnSpc>
                <a:spcPts val="3528"/>
              </a:lnSpc>
            </a:pPr>
            <a:r>
              <a:rPr lang="en-US" sz="3150" b="1">
                <a:solidFill>
                  <a:srgbClr val="F0F6FC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with IBM Bob 2.0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4400" y="4648200"/>
            <a:ext cx="7048500" cy="342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8B949E"/>
                </a:solidFill>
                <a:latin typeface="IBM Plex Sans"/>
                <a:ea typeface="IBM Plex Sans"/>
                <a:cs typeface="IBM Plex Sans"/>
                <a:sym typeface="IBM Plex Sans"/>
              </a:rPr>
              <a:t>From bug report to verified fix.</a:t>
            </a:r>
          </a:p>
        </p:txBody>
      </p:sp>
      <p:sp>
        <p:nvSpPr>
          <p:cNvPr id="10" name="AutoShape 10"/>
          <p:cNvSpPr/>
          <p:nvPr/>
        </p:nvSpPr>
        <p:spPr>
          <a:xfrm>
            <a:off x="914400" y="5905500"/>
            <a:ext cx="2895600" cy="0"/>
          </a:xfrm>
          <a:prstGeom prst="line">
            <a:avLst/>
          </a:prstGeom>
          <a:ln w="38100" cap="flat">
            <a:solidFill>
              <a:srgbClr val="2F81F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/>
          <p:cNvSpPr txBox="1"/>
          <p:nvPr/>
        </p:nvSpPr>
        <p:spPr>
          <a:xfrm>
            <a:off x="914400" y="6143625"/>
            <a:ext cx="8763000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>
                <a:solidFill>
                  <a:srgbClr val="F0F6FC"/>
                </a:solidFill>
                <a:latin typeface="IBM Plex Mono"/>
                <a:ea typeface="IBM Plex Mono"/>
                <a:cs typeface="IBM Plex Mono"/>
                <a:sym typeface="IBM Plex Mono"/>
              </a:rPr>
              <a:t>BUG  →  INVESTIGATE  →  FIX  →  TEST  →  VERIFY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14400" y="8639175"/>
            <a:ext cx="8572500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>
                <a:solidFill>
                  <a:srgbClr val="8B949E"/>
                </a:solidFill>
                <a:latin typeface="IBM Plex Sans"/>
                <a:ea typeface="IBM Plex Sans"/>
                <a:cs typeface="IBM Plex Sans"/>
                <a:sym typeface="IBM Plex Sans"/>
              </a:rPr>
              <a:t>TEAM CODEPILOT</a:t>
            </a:r>
          </a:p>
          <a:p>
            <a:pPr algn="l">
              <a:lnSpc>
                <a:spcPts val="2475"/>
              </a:lnSpc>
            </a:pPr>
            <a:r>
              <a:rPr lang="en-US" sz="1650">
                <a:solidFill>
                  <a:srgbClr val="8B949E"/>
                </a:solidFill>
                <a:latin typeface="IBM Plex Sans"/>
                <a:ea typeface="IBM Plex Sans"/>
                <a:cs typeface="IBM Plex Sans"/>
                <a:sym typeface="IBM Plex Sans"/>
              </a:rPr>
              <a:t>Patel Princekumar · Rudra Patel · Abhishek Chikhaliya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23875"/>
            <a:ext cx="8572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08">
                <a:solidFill>
                  <a:srgbClr val="2F81F7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PROBLEM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1028700"/>
            <a:ext cx="14763750" cy="653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 b="1">
                <a:solidFill>
                  <a:srgbClr val="F0F6FC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Debugging Is Not Just Fixing One Line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573500" y="581025"/>
            <a:ext cx="85725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b="1" spc="108">
                <a:solidFill>
                  <a:srgbClr val="2F81F7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02</a:t>
            </a:r>
          </a:p>
        </p:txBody>
      </p:sp>
      <p:sp>
        <p:nvSpPr>
          <p:cNvPr id="5" name="AutoShape 5"/>
          <p:cNvSpPr/>
          <p:nvPr/>
        </p:nvSpPr>
        <p:spPr>
          <a:xfrm>
            <a:off x="914400" y="1866900"/>
            <a:ext cx="16459200" cy="0"/>
          </a:xfrm>
          <a:prstGeom prst="line">
            <a:avLst/>
          </a:prstGeom>
          <a:ln w="9525" cap="flat">
            <a:solidFill>
              <a:srgbClr val="30363D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>
            <a:off x="914400" y="2571750"/>
            <a:ext cx="16459200" cy="704850"/>
            <a:chOff x="0" y="0"/>
            <a:chExt cx="21945600" cy="939800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2543175" cy="939800"/>
              <a:chOff x="0" y="0"/>
              <a:chExt cx="2543175" cy="9398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543175" cy="939800"/>
              </a:xfrm>
              <a:custGeom>
                <a:avLst/>
                <a:gdLst/>
                <a:ahLst/>
                <a:cxnLst/>
                <a:rect l="l" t="t" r="r" b="b"/>
                <a:pathLst>
                  <a:path w="2543175" h="939800">
                    <a:moveTo>
                      <a:pt x="50737" y="0"/>
                    </a:moveTo>
                    <a:lnTo>
                      <a:pt x="2492438" y="0"/>
                    </a:lnTo>
                    <a:cubicBezTo>
                      <a:pt x="2505895" y="0"/>
                      <a:pt x="2518800" y="5345"/>
                      <a:pt x="2528315" y="14860"/>
                    </a:cubicBezTo>
                    <a:cubicBezTo>
                      <a:pt x="2537830" y="24375"/>
                      <a:pt x="2543175" y="37280"/>
                      <a:pt x="2543175" y="50737"/>
                    </a:cubicBezTo>
                    <a:lnTo>
                      <a:pt x="2543175" y="889063"/>
                    </a:lnTo>
                    <a:cubicBezTo>
                      <a:pt x="2543175" y="902520"/>
                      <a:pt x="2537830" y="915425"/>
                      <a:pt x="2528315" y="924940"/>
                    </a:cubicBezTo>
                    <a:cubicBezTo>
                      <a:pt x="2518800" y="934455"/>
                      <a:pt x="2505895" y="939800"/>
                      <a:pt x="2492438" y="939800"/>
                    </a:cubicBezTo>
                    <a:lnTo>
                      <a:pt x="50737" y="939800"/>
                    </a:lnTo>
                    <a:cubicBezTo>
                      <a:pt x="37280" y="939800"/>
                      <a:pt x="24375" y="934455"/>
                      <a:pt x="14860" y="924940"/>
                    </a:cubicBezTo>
                    <a:cubicBezTo>
                      <a:pt x="5345" y="915425"/>
                      <a:pt x="0" y="902520"/>
                      <a:pt x="0" y="889063"/>
                    </a:cubicBezTo>
                    <a:lnTo>
                      <a:pt x="0" y="50737"/>
                    </a:lnTo>
                    <a:cubicBezTo>
                      <a:pt x="0" y="37280"/>
                      <a:pt x="5345" y="24375"/>
                      <a:pt x="14860" y="14860"/>
                    </a:cubicBezTo>
                    <a:cubicBezTo>
                      <a:pt x="24375" y="5345"/>
                      <a:pt x="37280" y="0"/>
                      <a:pt x="50737" y="0"/>
                    </a:cubicBezTo>
                    <a:close/>
                  </a:path>
                </a:pathLst>
              </a:custGeom>
              <a:solidFill>
                <a:srgbClr val="161B22"/>
              </a:solidFill>
              <a:ln w="9525" cap="sq">
                <a:solidFill>
                  <a:srgbClr val="30363D"/>
                </a:solidFill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28575"/>
                <a:ext cx="2543175" cy="9683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95"/>
                  </a:lnSpc>
                </a:pPr>
                <a:r>
                  <a:rPr lang="en-US" sz="1425" b="1">
                    <a:solidFill>
                      <a:srgbClr val="F0F6FC"/>
                    </a:solidFill>
                    <a:latin typeface="IBM Plex Mono Bold"/>
                    <a:ea typeface="IBM Plex Mono Bold"/>
                    <a:cs typeface="IBM Plex Mono Bold"/>
                    <a:sym typeface="IBM Plex Mono Bold"/>
                  </a:rPr>
                  <a:t>BUG REPORT</a:t>
                </a:r>
              </a:p>
            </p:txBody>
          </p:sp>
        </p:grpSp>
        <p:sp>
          <p:nvSpPr>
            <p:cNvPr id="10" name="AutoShape 10"/>
            <p:cNvSpPr/>
            <p:nvPr/>
          </p:nvSpPr>
          <p:spPr>
            <a:xfrm>
              <a:off x="2543175" y="469900"/>
              <a:ext cx="228600" cy="0"/>
            </a:xfrm>
            <a:prstGeom prst="line">
              <a:avLst/>
            </a:prstGeom>
            <a:ln w="25400" cap="flat">
              <a:solidFill>
                <a:srgbClr val="2F81F7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2771775" y="0"/>
              <a:ext cx="2543175" cy="939800"/>
              <a:chOff x="0" y="0"/>
              <a:chExt cx="2543175" cy="9398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2543175" cy="939800"/>
              </a:xfrm>
              <a:custGeom>
                <a:avLst/>
                <a:gdLst/>
                <a:ahLst/>
                <a:cxnLst/>
                <a:rect l="l" t="t" r="r" b="b"/>
                <a:pathLst>
                  <a:path w="2543175" h="939800">
                    <a:moveTo>
                      <a:pt x="50737" y="0"/>
                    </a:moveTo>
                    <a:lnTo>
                      <a:pt x="2492438" y="0"/>
                    </a:lnTo>
                    <a:cubicBezTo>
                      <a:pt x="2505895" y="0"/>
                      <a:pt x="2518800" y="5345"/>
                      <a:pt x="2528315" y="14860"/>
                    </a:cubicBezTo>
                    <a:cubicBezTo>
                      <a:pt x="2537830" y="24375"/>
                      <a:pt x="2543175" y="37280"/>
                      <a:pt x="2543175" y="50737"/>
                    </a:cubicBezTo>
                    <a:lnTo>
                      <a:pt x="2543175" y="889063"/>
                    </a:lnTo>
                    <a:cubicBezTo>
                      <a:pt x="2543175" y="902520"/>
                      <a:pt x="2537830" y="915425"/>
                      <a:pt x="2528315" y="924940"/>
                    </a:cubicBezTo>
                    <a:cubicBezTo>
                      <a:pt x="2518800" y="934455"/>
                      <a:pt x="2505895" y="939800"/>
                      <a:pt x="2492438" y="939800"/>
                    </a:cubicBezTo>
                    <a:lnTo>
                      <a:pt x="50737" y="939800"/>
                    </a:lnTo>
                    <a:cubicBezTo>
                      <a:pt x="37280" y="939800"/>
                      <a:pt x="24375" y="934455"/>
                      <a:pt x="14860" y="924940"/>
                    </a:cubicBezTo>
                    <a:cubicBezTo>
                      <a:pt x="5345" y="915425"/>
                      <a:pt x="0" y="902520"/>
                      <a:pt x="0" y="889063"/>
                    </a:cubicBezTo>
                    <a:lnTo>
                      <a:pt x="0" y="50737"/>
                    </a:lnTo>
                    <a:cubicBezTo>
                      <a:pt x="0" y="37280"/>
                      <a:pt x="5345" y="24375"/>
                      <a:pt x="14860" y="14860"/>
                    </a:cubicBezTo>
                    <a:cubicBezTo>
                      <a:pt x="24375" y="5345"/>
                      <a:pt x="37280" y="0"/>
                      <a:pt x="50737" y="0"/>
                    </a:cubicBezTo>
                    <a:close/>
                  </a:path>
                </a:pathLst>
              </a:custGeom>
              <a:solidFill>
                <a:srgbClr val="161B22"/>
              </a:solidFill>
              <a:ln w="9525" cap="sq">
                <a:solidFill>
                  <a:srgbClr val="30363D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28575"/>
                <a:ext cx="2543175" cy="9683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95"/>
                  </a:lnSpc>
                </a:pPr>
                <a:r>
                  <a:rPr lang="en-US" sz="1425" b="1">
                    <a:solidFill>
                      <a:srgbClr val="F0F6FC"/>
                    </a:solidFill>
                    <a:latin typeface="IBM Plex Mono Bold"/>
                    <a:ea typeface="IBM Plex Mono Bold"/>
                    <a:cs typeface="IBM Plex Mono Bold"/>
                    <a:sym typeface="IBM Plex Mono Bold"/>
                  </a:rPr>
                  <a:t>ENDPOINT</a:t>
                </a:r>
              </a:p>
            </p:txBody>
          </p:sp>
        </p:grpSp>
        <p:sp>
          <p:nvSpPr>
            <p:cNvPr id="14" name="AutoShape 14"/>
            <p:cNvSpPr/>
            <p:nvPr/>
          </p:nvSpPr>
          <p:spPr>
            <a:xfrm>
              <a:off x="5314950" y="469900"/>
              <a:ext cx="228600" cy="0"/>
            </a:xfrm>
            <a:prstGeom prst="line">
              <a:avLst/>
            </a:prstGeom>
            <a:ln w="25400" cap="flat">
              <a:solidFill>
                <a:srgbClr val="2F81F7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5543550" y="0"/>
              <a:ext cx="2543175" cy="939800"/>
              <a:chOff x="0" y="0"/>
              <a:chExt cx="2543175" cy="9398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2543175" cy="939800"/>
              </a:xfrm>
              <a:custGeom>
                <a:avLst/>
                <a:gdLst/>
                <a:ahLst/>
                <a:cxnLst/>
                <a:rect l="l" t="t" r="r" b="b"/>
                <a:pathLst>
                  <a:path w="2543175" h="939800">
                    <a:moveTo>
                      <a:pt x="50737" y="0"/>
                    </a:moveTo>
                    <a:lnTo>
                      <a:pt x="2492438" y="0"/>
                    </a:lnTo>
                    <a:cubicBezTo>
                      <a:pt x="2505895" y="0"/>
                      <a:pt x="2518800" y="5345"/>
                      <a:pt x="2528315" y="14860"/>
                    </a:cubicBezTo>
                    <a:cubicBezTo>
                      <a:pt x="2537830" y="24375"/>
                      <a:pt x="2543175" y="37280"/>
                      <a:pt x="2543175" y="50737"/>
                    </a:cubicBezTo>
                    <a:lnTo>
                      <a:pt x="2543175" y="889063"/>
                    </a:lnTo>
                    <a:cubicBezTo>
                      <a:pt x="2543175" y="902520"/>
                      <a:pt x="2537830" y="915425"/>
                      <a:pt x="2528315" y="924940"/>
                    </a:cubicBezTo>
                    <a:cubicBezTo>
                      <a:pt x="2518800" y="934455"/>
                      <a:pt x="2505895" y="939800"/>
                      <a:pt x="2492438" y="939800"/>
                    </a:cubicBezTo>
                    <a:lnTo>
                      <a:pt x="50737" y="939800"/>
                    </a:lnTo>
                    <a:cubicBezTo>
                      <a:pt x="37280" y="939800"/>
                      <a:pt x="24375" y="934455"/>
                      <a:pt x="14860" y="924940"/>
                    </a:cubicBezTo>
                    <a:cubicBezTo>
                      <a:pt x="5345" y="915425"/>
                      <a:pt x="0" y="902520"/>
                      <a:pt x="0" y="889063"/>
                    </a:cubicBezTo>
                    <a:lnTo>
                      <a:pt x="0" y="50737"/>
                    </a:lnTo>
                    <a:cubicBezTo>
                      <a:pt x="0" y="37280"/>
                      <a:pt x="5345" y="24375"/>
                      <a:pt x="14860" y="14860"/>
                    </a:cubicBezTo>
                    <a:cubicBezTo>
                      <a:pt x="24375" y="5345"/>
                      <a:pt x="37280" y="0"/>
                      <a:pt x="50737" y="0"/>
                    </a:cubicBezTo>
                    <a:close/>
                  </a:path>
                </a:pathLst>
              </a:custGeom>
              <a:solidFill>
                <a:srgbClr val="161B22"/>
              </a:solidFill>
              <a:ln w="9525" cap="sq">
                <a:solidFill>
                  <a:srgbClr val="30363D"/>
                </a:solidFill>
                <a:prstDash val="solid"/>
                <a:miter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28575"/>
                <a:ext cx="2543175" cy="9683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95"/>
                  </a:lnSpc>
                </a:pPr>
                <a:r>
                  <a:rPr lang="en-US" sz="1425" b="1">
                    <a:solidFill>
                      <a:srgbClr val="F0F6FC"/>
                    </a:solidFill>
                    <a:latin typeface="IBM Plex Mono Bold"/>
                    <a:ea typeface="IBM Plex Mono Bold"/>
                    <a:cs typeface="IBM Plex Mono Bold"/>
                    <a:sym typeface="IBM Plex Mono Bold"/>
                  </a:rPr>
                  <a:t>SERVICE</a:t>
                </a:r>
              </a:p>
            </p:txBody>
          </p:sp>
        </p:grpSp>
        <p:sp>
          <p:nvSpPr>
            <p:cNvPr id="18" name="AutoShape 18"/>
            <p:cNvSpPr/>
            <p:nvPr/>
          </p:nvSpPr>
          <p:spPr>
            <a:xfrm>
              <a:off x="8086725" y="469900"/>
              <a:ext cx="228600" cy="0"/>
            </a:xfrm>
            <a:prstGeom prst="line">
              <a:avLst/>
            </a:prstGeom>
            <a:ln w="25400" cap="flat">
              <a:solidFill>
                <a:srgbClr val="2F81F7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8315325" y="0"/>
              <a:ext cx="2543175" cy="939800"/>
              <a:chOff x="0" y="0"/>
              <a:chExt cx="2543175" cy="9398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2543175" cy="939800"/>
              </a:xfrm>
              <a:custGeom>
                <a:avLst/>
                <a:gdLst/>
                <a:ahLst/>
                <a:cxnLst/>
                <a:rect l="l" t="t" r="r" b="b"/>
                <a:pathLst>
                  <a:path w="2543175" h="939800">
                    <a:moveTo>
                      <a:pt x="50737" y="0"/>
                    </a:moveTo>
                    <a:lnTo>
                      <a:pt x="2492438" y="0"/>
                    </a:lnTo>
                    <a:cubicBezTo>
                      <a:pt x="2505895" y="0"/>
                      <a:pt x="2518800" y="5345"/>
                      <a:pt x="2528315" y="14860"/>
                    </a:cubicBezTo>
                    <a:cubicBezTo>
                      <a:pt x="2537830" y="24375"/>
                      <a:pt x="2543175" y="37280"/>
                      <a:pt x="2543175" y="50737"/>
                    </a:cubicBezTo>
                    <a:lnTo>
                      <a:pt x="2543175" y="889063"/>
                    </a:lnTo>
                    <a:cubicBezTo>
                      <a:pt x="2543175" y="902520"/>
                      <a:pt x="2537830" y="915425"/>
                      <a:pt x="2528315" y="924940"/>
                    </a:cubicBezTo>
                    <a:cubicBezTo>
                      <a:pt x="2518800" y="934455"/>
                      <a:pt x="2505895" y="939800"/>
                      <a:pt x="2492438" y="939800"/>
                    </a:cubicBezTo>
                    <a:lnTo>
                      <a:pt x="50737" y="939800"/>
                    </a:lnTo>
                    <a:cubicBezTo>
                      <a:pt x="37280" y="939800"/>
                      <a:pt x="24375" y="934455"/>
                      <a:pt x="14860" y="924940"/>
                    </a:cubicBezTo>
                    <a:cubicBezTo>
                      <a:pt x="5345" y="915425"/>
                      <a:pt x="0" y="902520"/>
                      <a:pt x="0" y="889063"/>
                    </a:cubicBezTo>
                    <a:lnTo>
                      <a:pt x="0" y="50737"/>
                    </a:lnTo>
                    <a:cubicBezTo>
                      <a:pt x="0" y="37280"/>
                      <a:pt x="5345" y="24375"/>
                      <a:pt x="14860" y="14860"/>
                    </a:cubicBezTo>
                    <a:cubicBezTo>
                      <a:pt x="24375" y="5345"/>
                      <a:pt x="37280" y="0"/>
                      <a:pt x="50737" y="0"/>
                    </a:cubicBezTo>
                    <a:close/>
                  </a:path>
                </a:pathLst>
              </a:custGeom>
              <a:solidFill>
                <a:srgbClr val="161B22"/>
              </a:solidFill>
              <a:ln w="9525" cap="sq">
                <a:solidFill>
                  <a:srgbClr val="30363D"/>
                </a:solidFill>
                <a:prstDash val="solid"/>
                <a:miter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28575"/>
                <a:ext cx="2543175" cy="9683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95"/>
                  </a:lnSpc>
                </a:pPr>
                <a:r>
                  <a:rPr lang="en-US" sz="1425" b="1">
                    <a:solidFill>
                      <a:srgbClr val="F0F6FC"/>
                    </a:solidFill>
                    <a:latin typeface="IBM Plex Mono Bold"/>
                    <a:ea typeface="IBM Plex Mono Bold"/>
                    <a:cs typeface="IBM Plex Mono Bold"/>
                    <a:sym typeface="IBM Plex Mono Bold"/>
                  </a:rPr>
                  <a:t>REPOSITORY</a:t>
                </a:r>
              </a:p>
            </p:txBody>
          </p:sp>
        </p:grpSp>
        <p:sp>
          <p:nvSpPr>
            <p:cNvPr id="22" name="AutoShape 22"/>
            <p:cNvSpPr/>
            <p:nvPr/>
          </p:nvSpPr>
          <p:spPr>
            <a:xfrm>
              <a:off x="10858500" y="469900"/>
              <a:ext cx="228600" cy="0"/>
            </a:xfrm>
            <a:prstGeom prst="line">
              <a:avLst/>
            </a:prstGeom>
            <a:ln w="25400" cap="flat">
              <a:solidFill>
                <a:srgbClr val="2F81F7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11087100" y="0"/>
              <a:ext cx="2543175" cy="939800"/>
              <a:chOff x="0" y="0"/>
              <a:chExt cx="2543175" cy="9398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2543175" cy="939800"/>
              </a:xfrm>
              <a:custGeom>
                <a:avLst/>
                <a:gdLst/>
                <a:ahLst/>
                <a:cxnLst/>
                <a:rect l="l" t="t" r="r" b="b"/>
                <a:pathLst>
                  <a:path w="2543175" h="939800">
                    <a:moveTo>
                      <a:pt x="50737" y="0"/>
                    </a:moveTo>
                    <a:lnTo>
                      <a:pt x="2492438" y="0"/>
                    </a:lnTo>
                    <a:cubicBezTo>
                      <a:pt x="2505895" y="0"/>
                      <a:pt x="2518800" y="5345"/>
                      <a:pt x="2528315" y="14860"/>
                    </a:cubicBezTo>
                    <a:cubicBezTo>
                      <a:pt x="2537830" y="24375"/>
                      <a:pt x="2543175" y="37280"/>
                      <a:pt x="2543175" y="50737"/>
                    </a:cubicBezTo>
                    <a:lnTo>
                      <a:pt x="2543175" y="889063"/>
                    </a:lnTo>
                    <a:cubicBezTo>
                      <a:pt x="2543175" y="902520"/>
                      <a:pt x="2537830" y="915425"/>
                      <a:pt x="2528315" y="924940"/>
                    </a:cubicBezTo>
                    <a:cubicBezTo>
                      <a:pt x="2518800" y="934455"/>
                      <a:pt x="2505895" y="939800"/>
                      <a:pt x="2492438" y="939800"/>
                    </a:cubicBezTo>
                    <a:lnTo>
                      <a:pt x="50737" y="939800"/>
                    </a:lnTo>
                    <a:cubicBezTo>
                      <a:pt x="37280" y="939800"/>
                      <a:pt x="24375" y="934455"/>
                      <a:pt x="14860" y="924940"/>
                    </a:cubicBezTo>
                    <a:cubicBezTo>
                      <a:pt x="5345" y="915425"/>
                      <a:pt x="0" y="902520"/>
                      <a:pt x="0" y="889063"/>
                    </a:cubicBezTo>
                    <a:lnTo>
                      <a:pt x="0" y="50737"/>
                    </a:lnTo>
                    <a:cubicBezTo>
                      <a:pt x="0" y="37280"/>
                      <a:pt x="5345" y="24375"/>
                      <a:pt x="14860" y="14860"/>
                    </a:cubicBezTo>
                    <a:cubicBezTo>
                      <a:pt x="24375" y="5345"/>
                      <a:pt x="37280" y="0"/>
                      <a:pt x="50737" y="0"/>
                    </a:cubicBezTo>
                    <a:close/>
                  </a:path>
                </a:pathLst>
              </a:custGeom>
              <a:solidFill>
                <a:srgbClr val="161B22"/>
              </a:solidFill>
              <a:ln w="9525" cap="sq">
                <a:solidFill>
                  <a:srgbClr val="30363D"/>
                </a:solidFill>
                <a:prstDash val="solid"/>
                <a:miter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0" y="-28575"/>
                <a:ext cx="2543175" cy="9683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95"/>
                  </a:lnSpc>
                </a:pPr>
                <a:r>
                  <a:rPr lang="en-US" sz="1425" b="1">
                    <a:solidFill>
                      <a:srgbClr val="F0F6FC"/>
                    </a:solidFill>
                    <a:latin typeface="IBM Plex Mono Bold"/>
                    <a:ea typeface="IBM Plex Mono Bold"/>
                    <a:cs typeface="IBM Plex Mono Bold"/>
                    <a:sym typeface="IBM Plex Mono Bold"/>
                  </a:rPr>
                  <a:t>ROOT CAUSE</a:t>
                </a:r>
              </a:p>
            </p:txBody>
          </p:sp>
        </p:grpSp>
        <p:sp>
          <p:nvSpPr>
            <p:cNvPr id="26" name="AutoShape 26"/>
            <p:cNvSpPr/>
            <p:nvPr/>
          </p:nvSpPr>
          <p:spPr>
            <a:xfrm>
              <a:off x="13630275" y="469900"/>
              <a:ext cx="228600" cy="0"/>
            </a:xfrm>
            <a:prstGeom prst="line">
              <a:avLst/>
            </a:prstGeom>
            <a:ln w="25400" cap="flat">
              <a:solidFill>
                <a:srgbClr val="2F81F7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13858875" y="0"/>
              <a:ext cx="2543175" cy="939800"/>
              <a:chOff x="0" y="0"/>
              <a:chExt cx="2543175" cy="9398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2543175" cy="939800"/>
              </a:xfrm>
              <a:custGeom>
                <a:avLst/>
                <a:gdLst/>
                <a:ahLst/>
                <a:cxnLst/>
                <a:rect l="l" t="t" r="r" b="b"/>
                <a:pathLst>
                  <a:path w="2543175" h="939800">
                    <a:moveTo>
                      <a:pt x="50737" y="0"/>
                    </a:moveTo>
                    <a:lnTo>
                      <a:pt x="2492438" y="0"/>
                    </a:lnTo>
                    <a:cubicBezTo>
                      <a:pt x="2505895" y="0"/>
                      <a:pt x="2518800" y="5345"/>
                      <a:pt x="2528315" y="14860"/>
                    </a:cubicBezTo>
                    <a:cubicBezTo>
                      <a:pt x="2537830" y="24375"/>
                      <a:pt x="2543175" y="37280"/>
                      <a:pt x="2543175" y="50737"/>
                    </a:cubicBezTo>
                    <a:lnTo>
                      <a:pt x="2543175" y="889063"/>
                    </a:lnTo>
                    <a:cubicBezTo>
                      <a:pt x="2543175" y="902520"/>
                      <a:pt x="2537830" y="915425"/>
                      <a:pt x="2528315" y="924940"/>
                    </a:cubicBezTo>
                    <a:cubicBezTo>
                      <a:pt x="2518800" y="934455"/>
                      <a:pt x="2505895" y="939800"/>
                      <a:pt x="2492438" y="939800"/>
                    </a:cubicBezTo>
                    <a:lnTo>
                      <a:pt x="50737" y="939800"/>
                    </a:lnTo>
                    <a:cubicBezTo>
                      <a:pt x="37280" y="939800"/>
                      <a:pt x="24375" y="934455"/>
                      <a:pt x="14860" y="924940"/>
                    </a:cubicBezTo>
                    <a:cubicBezTo>
                      <a:pt x="5345" y="915425"/>
                      <a:pt x="0" y="902520"/>
                      <a:pt x="0" y="889063"/>
                    </a:cubicBezTo>
                    <a:lnTo>
                      <a:pt x="0" y="50737"/>
                    </a:lnTo>
                    <a:cubicBezTo>
                      <a:pt x="0" y="37280"/>
                      <a:pt x="5345" y="24375"/>
                      <a:pt x="14860" y="14860"/>
                    </a:cubicBezTo>
                    <a:cubicBezTo>
                      <a:pt x="24375" y="5345"/>
                      <a:pt x="37280" y="0"/>
                      <a:pt x="50737" y="0"/>
                    </a:cubicBezTo>
                    <a:close/>
                  </a:path>
                </a:pathLst>
              </a:custGeom>
              <a:solidFill>
                <a:srgbClr val="161B22"/>
              </a:solidFill>
              <a:ln w="9525" cap="sq">
                <a:solidFill>
                  <a:srgbClr val="30363D"/>
                </a:solidFill>
                <a:prstDash val="solid"/>
                <a:miter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0" y="-28575"/>
                <a:ext cx="2543175" cy="9683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95"/>
                  </a:lnSpc>
                </a:pPr>
                <a:r>
                  <a:rPr lang="en-US" sz="1425" b="1">
                    <a:solidFill>
                      <a:srgbClr val="F0F6FC"/>
                    </a:solidFill>
                    <a:latin typeface="IBM Plex Mono Bold"/>
                    <a:ea typeface="IBM Plex Mono Bold"/>
                    <a:cs typeface="IBM Plex Mono Bold"/>
                    <a:sym typeface="IBM Plex Mono Bold"/>
                  </a:rPr>
                  <a:t>FIX</a:t>
                </a:r>
              </a:p>
            </p:txBody>
          </p:sp>
        </p:grpSp>
        <p:sp>
          <p:nvSpPr>
            <p:cNvPr id="30" name="AutoShape 30"/>
            <p:cNvSpPr/>
            <p:nvPr/>
          </p:nvSpPr>
          <p:spPr>
            <a:xfrm>
              <a:off x="16402050" y="469900"/>
              <a:ext cx="228600" cy="0"/>
            </a:xfrm>
            <a:prstGeom prst="line">
              <a:avLst/>
            </a:prstGeom>
            <a:ln w="25400" cap="flat">
              <a:solidFill>
                <a:srgbClr val="2F81F7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16630650" y="0"/>
              <a:ext cx="2543175" cy="939800"/>
              <a:chOff x="0" y="0"/>
              <a:chExt cx="2543175" cy="9398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2543175" cy="939800"/>
              </a:xfrm>
              <a:custGeom>
                <a:avLst/>
                <a:gdLst/>
                <a:ahLst/>
                <a:cxnLst/>
                <a:rect l="l" t="t" r="r" b="b"/>
                <a:pathLst>
                  <a:path w="2543175" h="939800">
                    <a:moveTo>
                      <a:pt x="50737" y="0"/>
                    </a:moveTo>
                    <a:lnTo>
                      <a:pt x="2492438" y="0"/>
                    </a:lnTo>
                    <a:cubicBezTo>
                      <a:pt x="2505895" y="0"/>
                      <a:pt x="2518800" y="5345"/>
                      <a:pt x="2528315" y="14860"/>
                    </a:cubicBezTo>
                    <a:cubicBezTo>
                      <a:pt x="2537830" y="24375"/>
                      <a:pt x="2543175" y="37280"/>
                      <a:pt x="2543175" y="50737"/>
                    </a:cubicBezTo>
                    <a:lnTo>
                      <a:pt x="2543175" y="889063"/>
                    </a:lnTo>
                    <a:cubicBezTo>
                      <a:pt x="2543175" y="902520"/>
                      <a:pt x="2537830" y="915425"/>
                      <a:pt x="2528315" y="924940"/>
                    </a:cubicBezTo>
                    <a:cubicBezTo>
                      <a:pt x="2518800" y="934455"/>
                      <a:pt x="2505895" y="939800"/>
                      <a:pt x="2492438" y="939800"/>
                    </a:cubicBezTo>
                    <a:lnTo>
                      <a:pt x="50737" y="939800"/>
                    </a:lnTo>
                    <a:cubicBezTo>
                      <a:pt x="37280" y="939800"/>
                      <a:pt x="24375" y="934455"/>
                      <a:pt x="14860" y="924940"/>
                    </a:cubicBezTo>
                    <a:cubicBezTo>
                      <a:pt x="5345" y="915425"/>
                      <a:pt x="0" y="902520"/>
                      <a:pt x="0" y="889063"/>
                    </a:cubicBezTo>
                    <a:lnTo>
                      <a:pt x="0" y="50737"/>
                    </a:lnTo>
                    <a:cubicBezTo>
                      <a:pt x="0" y="37280"/>
                      <a:pt x="5345" y="24375"/>
                      <a:pt x="14860" y="14860"/>
                    </a:cubicBezTo>
                    <a:cubicBezTo>
                      <a:pt x="24375" y="5345"/>
                      <a:pt x="37280" y="0"/>
                      <a:pt x="50737" y="0"/>
                    </a:cubicBezTo>
                    <a:close/>
                  </a:path>
                </a:pathLst>
              </a:custGeom>
              <a:solidFill>
                <a:srgbClr val="161B22"/>
              </a:solidFill>
              <a:ln w="9525" cap="sq">
                <a:solidFill>
                  <a:srgbClr val="30363D"/>
                </a:solidFill>
                <a:prstDash val="solid"/>
                <a:miter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0" y="-28575"/>
                <a:ext cx="2543175" cy="9683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95"/>
                  </a:lnSpc>
                </a:pPr>
                <a:r>
                  <a:rPr lang="en-US" sz="1425" b="1">
                    <a:solidFill>
                      <a:srgbClr val="F0F6FC"/>
                    </a:solidFill>
                    <a:latin typeface="IBM Plex Mono Bold"/>
                    <a:ea typeface="IBM Plex Mono Bold"/>
                    <a:cs typeface="IBM Plex Mono Bold"/>
                    <a:sym typeface="IBM Plex Mono Bold"/>
                  </a:rPr>
                  <a:t>TEST</a:t>
                </a:r>
              </a:p>
            </p:txBody>
          </p:sp>
        </p:grpSp>
        <p:sp>
          <p:nvSpPr>
            <p:cNvPr id="34" name="AutoShape 34"/>
            <p:cNvSpPr/>
            <p:nvPr/>
          </p:nvSpPr>
          <p:spPr>
            <a:xfrm>
              <a:off x="19173825" y="469900"/>
              <a:ext cx="228600" cy="0"/>
            </a:xfrm>
            <a:prstGeom prst="line">
              <a:avLst/>
            </a:prstGeom>
            <a:ln w="25400" cap="flat">
              <a:solidFill>
                <a:srgbClr val="2F81F7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19402425" y="0"/>
              <a:ext cx="2543175" cy="939800"/>
              <a:chOff x="0" y="0"/>
              <a:chExt cx="2543175" cy="9398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2543175" cy="939800"/>
              </a:xfrm>
              <a:custGeom>
                <a:avLst/>
                <a:gdLst/>
                <a:ahLst/>
                <a:cxnLst/>
                <a:rect l="l" t="t" r="r" b="b"/>
                <a:pathLst>
                  <a:path w="2543175" h="939800">
                    <a:moveTo>
                      <a:pt x="50737" y="0"/>
                    </a:moveTo>
                    <a:lnTo>
                      <a:pt x="2492438" y="0"/>
                    </a:lnTo>
                    <a:cubicBezTo>
                      <a:pt x="2505895" y="0"/>
                      <a:pt x="2518800" y="5345"/>
                      <a:pt x="2528315" y="14860"/>
                    </a:cubicBezTo>
                    <a:cubicBezTo>
                      <a:pt x="2537830" y="24375"/>
                      <a:pt x="2543175" y="37280"/>
                      <a:pt x="2543175" y="50737"/>
                    </a:cubicBezTo>
                    <a:lnTo>
                      <a:pt x="2543175" y="889063"/>
                    </a:lnTo>
                    <a:cubicBezTo>
                      <a:pt x="2543175" y="902520"/>
                      <a:pt x="2537830" y="915425"/>
                      <a:pt x="2528315" y="924940"/>
                    </a:cubicBezTo>
                    <a:cubicBezTo>
                      <a:pt x="2518800" y="934455"/>
                      <a:pt x="2505895" y="939800"/>
                      <a:pt x="2492438" y="939800"/>
                    </a:cubicBezTo>
                    <a:lnTo>
                      <a:pt x="50737" y="939800"/>
                    </a:lnTo>
                    <a:cubicBezTo>
                      <a:pt x="37280" y="939800"/>
                      <a:pt x="24375" y="934455"/>
                      <a:pt x="14860" y="924940"/>
                    </a:cubicBezTo>
                    <a:cubicBezTo>
                      <a:pt x="5345" y="915425"/>
                      <a:pt x="0" y="902520"/>
                      <a:pt x="0" y="889063"/>
                    </a:cubicBezTo>
                    <a:lnTo>
                      <a:pt x="0" y="50737"/>
                    </a:lnTo>
                    <a:cubicBezTo>
                      <a:pt x="0" y="37280"/>
                      <a:pt x="5345" y="24375"/>
                      <a:pt x="14860" y="14860"/>
                    </a:cubicBezTo>
                    <a:cubicBezTo>
                      <a:pt x="24375" y="5345"/>
                      <a:pt x="37280" y="0"/>
                      <a:pt x="50737" y="0"/>
                    </a:cubicBezTo>
                    <a:close/>
                  </a:path>
                </a:pathLst>
              </a:custGeom>
              <a:solidFill>
                <a:srgbClr val="21262D"/>
              </a:solidFill>
              <a:ln w="9525" cap="sq">
                <a:solidFill>
                  <a:srgbClr val="30363D"/>
                </a:solidFill>
                <a:prstDash val="solid"/>
                <a:miter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0" y="-28575"/>
                <a:ext cx="2543175" cy="9683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95"/>
                  </a:lnSpc>
                </a:pPr>
                <a:r>
                  <a:rPr lang="en-US" sz="1425" b="1">
                    <a:solidFill>
                      <a:srgbClr val="F0F6FC"/>
                    </a:solidFill>
                    <a:latin typeface="IBM Plex Mono Bold"/>
                    <a:ea typeface="IBM Plex Mono Bold"/>
                    <a:cs typeface="IBM Plex Mono Bold"/>
                    <a:sym typeface="IBM Plex Mono Bold"/>
                  </a:rPr>
                  <a:t>VERIFY</a:t>
                </a:r>
              </a:p>
            </p:txBody>
          </p:sp>
        </p:grpSp>
      </p:grpSp>
      <p:sp>
        <p:nvSpPr>
          <p:cNvPr id="38" name="TextBox 38"/>
          <p:cNvSpPr txBox="1"/>
          <p:nvPr/>
        </p:nvSpPr>
        <p:spPr>
          <a:xfrm>
            <a:off x="914400" y="3914775"/>
            <a:ext cx="9048750" cy="259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800" b="1">
                <a:solidFill>
                  <a:srgbClr val="F0F6FC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Repository-scale debugging requires connecting information across multiple layers.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14400" y="5200650"/>
            <a:ext cx="8382000" cy="685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8B949E"/>
                </a:solidFill>
                <a:latin typeface="IBM Plex Sans"/>
                <a:ea typeface="IBM Plex Sans"/>
                <a:cs typeface="IBM Plex Sans"/>
                <a:sym typeface="IBM Plex Sans"/>
              </a:rPr>
              <a:t>When a bug crosses multiple layers, developers spend time understanding the codebase before they can confidently fix the issue.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10287000" y="3619500"/>
            <a:ext cx="7086600" cy="3714750"/>
            <a:chOff x="0" y="0"/>
            <a:chExt cx="9448800" cy="4953000"/>
          </a:xfrm>
        </p:grpSpPr>
        <p:grpSp>
          <p:nvGrpSpPr>
            <p:cNvPr id="41" name="Group 41"/>
            <p:cNvGrpSpPr/>
            <p:nvPr/>
          </p:nvGrpSpPr>
          <p:grpSpPr>
            <a:xfrm>
              <a:off x="0" y="0"/>
              <a:ext cx="9448800" cy="4953000"/>
              <a:chOff x="0" y="0"/>
              <a:chExt cx="9448800" cy="495300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9448800" cy="4953000"/>
              </a:xfrm>
              <a:custGeom>
                <a:avLst/>
                <a:gdLst/>
                <a:ahLst/>
                <a:cxnLst/>
                <a:rect l="l" t="t" r="r" b="b"/>
                <a:pathLst>
                  <a:path w="9448800" h="4953000">
                    <a:moveTo>
                      <a:pt x="0" y="0"/>
                    </a:moveTo>
                    <a:lnTo>
                      <a:pt x="9448800" y="0"/>
                    </a:lnTo>
                    <a:lnTo>
                      <a:pt x="9448800" y="4953000"/>
                    </a:lnTo>
                    <a:lnTo>
                      <a:pt x="0" y="4953000"/>
                    </a:lnTo>
                    <a:close/>
                  </a:path>
                </a:pathLst>
              </a:custGeom>
              <a:solidFill>
                <a:srgbClr val="161B22"/>
              </a:solidFill>
              <a:ln w="9525" cap="sq">
                <a:solidFill>
                  <a:srgbClr val="30363D"/>
                </a:solidFill>
                <a:prstDash val="solid"/>
                <a:miter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0" y="-38100"/>
                <a:ext cx="9448800" cy="4991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44" name="TextBox 44"/>
            <p:cNvSpPr txBox="1"/>
            <p:nvPr/>
          </p:nvSpPr>
          <p:spPr>
            <a:xfrm>
              <a:off x="635000" y="561975"/>
              <a:ext cx="8255000" cy="17452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10"/>
                </a:lnSpc>
              </a:pPr>
              <a:r>
                <a:rPr lang="en-US" sz="1800" dirty="0">
                  <a:solidFill>
                    <a:srgbClr val="F0F6F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Src/api/tasks.py</a:t>
              </a:r>
            </a:p>
            <a:p>
              <a:pPr algn="l">
                <a:lnSpc>
                  <a:spcPts val="2610"/>
                </a:lnSpc>
              </a:pPr>
              <a:r>
                <a:rPr lang="en-US" sz="1800" dirty="0">
                  <a:solidFill>
                    <a:srgbClr val="F0F6F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→ src/services/task_service.py</a:t>
              </a:r>
            </a:p>
            <a:p>
              <a:pPr algn="l">
                <a:lnSpc>
                  <a:spcPts val="2610"/>
                </a:lnSpc>
              </a:pPr>
              <a:r>
                <a:rPr lang="en-US" sz="1800" dirty="0">
                  <a:solidFill>
                    <a:srgbClr val="F0F6F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→ src/repositories/task_repository.py</a:t>
              </a:r>
            </a:p>
            <a:p>
              <a:pPr algn="l">
                <a:lnSpc>
                  <a:spcPts val="2610"/>
                </a:lnSpc>
              </a:pPr>
              <a:r>
                <a:rPr lang="en-US" sz="1800" dirty="0">
                  <a:solidFill>
                    <a:srgbClr val="F0F6F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  → tests/test_tasks.py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23875"/>
            <a:ext cx="8572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08">
                <a:solidFill>
                  <a:srgbClr val="2F81F7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SOLUTION · HUMAN IN THE LOOP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1019175"/>
            <a:ext cx="14763750" cy="5986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46"/>
              </a:lnSpc>
            </a:pPr>
            <a:r>
              <a:rPr lang="en-US" sz="4425" b="1">
                <a:solidFill>
                  <a:srgbClr val="F0F6FC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CodePilot Turns Debugging Into a Structured Workflow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573500" y="581025"/>
            <a:ext cx="85725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b="1" spc="108">
                <a:solidFill>
                  <a:srgbClr val="2F81F7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03</a:t>
            </a:r>
          </a:p>
        </p:txBody>
      </p:sp>
      <p:sp>
        <p:nvSpPr>
          <p:cNvPr id="5" name="AutoShape 5"/>
          <p:cNvSpPr/>
          <p:nvPr/>
        </p:nvSpPr>
        <p:spPr>
          <a:xfrm>
            <a:off x="914400" y="1866900"/>
            <a:ext cx="16459200" cy="0"/>
          </a:xfrm>
          <a:prstGeom prst="line">
            <a:avLst/>
          </a:prstGeom>
          <a:ln w="9525" cap="flat">
            <a:solidFill>
              <a:srgbClr val="30363D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>
            <a:off x="1047750" y="2381250"/>
            <a:ext cx="5905500" cy="6438900"/>
            <a:chOff x="0" y="0"/>
            <a:chExt cx="7874000" cy="8585200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7874000" cy="965200"/>
              <a:chOff x="0" y="0"/>
              <a:chExt cx="7874000" cy="9652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7874000" cy="965200"/>
              </a:xfrm>
              <a:custGeom>
                <a:avLst/>
                <a:gdLst/>
                <a:ahLst/>
                <a:cxnLst/>
                <a:rect l="l" t="t" r="r" b="b"/>
                <a:pathLst>
                  <a:path w="7874000" h="965200">
                    <a:moveTo>
                      <a:pt x="16387" y="0"/>
                    </a:moveTo>
                    <a:lnTo>
                      <a:pt x="7857613" y="0"/>
                    </a:lnTo>
                    <a:cubicBezTo>
                      <a:pt x="7861959" y="0"/>
                      <a:pt x="7866127" y="1726"/>
                      <a:pt x="7869200" y="4800"/>
                    </a:cubicBezTo>
                    <a:cubicBezTo>
                      <a:pt x="7872274" y="7873"/>
                      <a:pt x="7874000" y="12041"/>
                      <a:pt x="7874000" y="16387"/>
                    </a:cubicBezTo>
                    <a:lnTo>
                      <a:pt x="7874000" y="948813"/>
                    </a:lnTo>
                    <a:cubicBezTo>
                      <a:pt x="7874000" y="953159"/>
                      <a:pt x="7872274" y="957327"/>
                      <a:pt x="7869200" y="960400"/>
                    </a:cubicBezTo>
                    <a:cubicBezTo>
                      <a:pt x="7866127" y="963474"/>
                      <a:pt x="7861959" y="965200"/>
                      <a:pt x="7857613" y="965200"/>
                    </a:cubicBezTo>
                    <a:lnTo>
                      <a:pt x="16387" y="965200"/>
                    </a:lnTo>
                    <a:cubicBezTo>
                      <a:pt x="12041" y="965200"/>
                      <a:pt x="7873" y="963474"/>
                      <a:pt x="4800" y="960400"/>
                    </a:cubicBezTo>
                    <a:cubicBezTo>
                      <a:pt x="1726" y="957327"/>
                      <a:pt x="0" y="953159"/>
                      <a:pt x="0" y="948813"/>
                    </a:cubicBezTo>
                    <a:lnTo>
                      <a:pt x="0" y="16387"/>
                    </a:lnTo>
                    <a:cubicBezTo>
                      <a:pt x="0" y="12041"/>
                      <a:pt x="1726" y="7873"/>
                      <a:pt x="4800" y="4800"/>
                    </a:cubicBezTo>
                    <a:cubicBezTo>
                      <a:pt x="7873" y="1726"/>
                      <a:pt x="12041" y="0"/>
                      <a:pt x="16387" y="0"/>
                    </a:cubicBezTo>
                    <a:close/>
                  </a:path>
                </a:pathLst>
              </a:custGeom>
              <a:solidFill>
                <a:srgbClr val="161B22"/>
              </a:solidFill>
              <a:ln w="9525" cap="sq">
                <a:solidFill>
                  <a:srgbClr val="30363D"/>
                </a:solidFill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28575"/>
                <a:ext cx="7874000" cy="9937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95"/>
                  </a:lnSpc>
                </a:pPr>
                <a:r>
                  <a:rPr lang="en-US" sz="1425" b="1">
                    <a:solidFill>
                      <a:srgbClr val="F0F6FC"/>
                    </a:solidFill>
                    <a:latin typeface="IBM Plex Mono Bold"/>
                    <a:ea typeface="IBM Plex Mono Bold"/>
                    <a:cs typeface="IBM Plex Mono Bold"/>
                    <a:sym typeface="IBM Plex Mono Bold"/>
                  </a:rPr>
                  <a:t>BUG REPORT</a:t>
                </a:r>
              </a:p>
            </p:txBody>
          </p:sp>
        </p:grpSp>
        <p:sp>
          <p:nvSpPr>
            <p:cNvPr id="10" name="AutoShape 10"/>
            <p:cNvSpPr/>
            <p:nvPr/>
          </p:nvSpPr>
          <p:spPr>
            <a:xfrm>
              <a:off x="3937000" y="965200"/>
              <a:ext cx="0" cy="304800"/>
            </a:xfrm>
            <a:prstGeom prst="line">
              <a:avLst/>
            </a:prstGeom>
            <a:ln w="25400" cap="flat">
              <a:solidFill>
                <a:srgbClr val="2F81F7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0" y="1270000"/>
              <a:ext cx="7874000" cy="965200"/>
              <a:chOff x="0" y="0"/>
              <a:chExt cx="7874000" cy="9652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7874000" cy="965200"/>
              </a:xfrm>
              <a:custGeom>
                <a:avLst/>
                <a:gdLst/>
                <a:ahLst/>
                <a:cxnLst/>
                <a:rect l="l" t="t" r="r" b="b"/>
                <a:pathLst>
                  <a:path w="7874000" h="965200">
                    <a:moveTo>
                      <a:pt x="16387" y="0"/>
                    </a:moveTo>
                    <a:lnTo>
                      <a:pt x="7857613" y="0"/>
                    </a:lnTo>
                    <a:cubicBezTo>
                      <a:pt x="7861959" y="0"/>
                      <a:pt x="7866127" y="1726"/>
                      <a:pt x="7869200" y="4800"/>
                    </a:cubicBezTo>
                    <a:cubicBezTo>
                      <a:pt x="7872274" y="7873"/>
                      <a:pt x="7874000" y="12041"/>
                      <a:pt x="7874000" y="16387"/>
                    </a:cubicBezTo>
                    <a:lnTo>
                      <a:pt x="7874000" y="948813"/>
                    </a:lnTo>
                    <a:cubicBezTo>
                      <a:pt x="7874000" y="953159"/>
                      <a:pt x="7872274" y="957327"/>
                      <a:pt x="7869200" y="960400"/>
                    </a:cubicBezTo>
                    <a:cubicBezTo>
                      <a:pt x="7866127" y="963474"/>
                      <a:pt x="7861959" y="965200"/>
                      <a:pt x="7857613" y="965200"/>
                    </a:cubicBezTo>
                    <a:lnTo>
                      <a:pt x="16387" y="965200"/>
                    </a:lnTo>
                    <a:cubicBezTo>
                      <a:pt x="12041" y="965200"/>
                      <a:pt x="7873" y="963474"/>
                      <a:pt x="4800" y="960400"/>
                    </a:cubicBezTo>
                    <a:cubicBezTo>
                      <a:pt x="1726" y="957327"/>
                      <a:pt x="0" y="953159"/>
                      <a:pt x="0" y="948813"/>
                    </a:cubicBezTo>
                    <a:lnTo>
                      <a:pt x="0" y="16387"/>
                    </a:lnTo>
                    <a:cubicBezTo>
                      <a:pt x="0" y="12041"/>
                      <a:pt x="1726" y="7873"/>
                      <a:pt x="4800" y="4800"/>
                    </a:cubicBezTo>
                    <a:cubicBezTo>
                      <a:pt x="7873" y="1726"/>
                      <a:pt x="12041" y="0"/>
                      <a:pt x="16387" y="0"/>
                    </a:cubicBezTo>
                    <a:close/>
                  </a:path>
                </a:pathLst>
              </a:custGeom>
              <a:solidFill>
                <a:srgbClr val="161B22"/>
              </a:solidFill>
              <a:ln w="9525" cap="sq">
                <a:solidFill>
                  <a:srgbClr val="30363D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28575"/>
                <a:ext cx="7874000" cy="9937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95"/>
                  </a:lnSpc>
                </a:pPr>
                <a:r>
                  <a:rPr lang="en-US" sz="1425" b="1">
                    <a:solidFill>
                      <a:srgbClr val="F0F6FC"/>
                    </a:solidFill>
                    <a:latin typeface="IBM Plex Mono Bold"/>
                    <a:ea typeface="IBM Plex Mono Bold"/>
                    <a:cs typeface="IBM Plex Mono Bold"/>
                    <a:sym typeface="IBM Plex Mono Bold"/>
                  </a:rPr>
                  <a:t>REPOSITORY ANALYSIS</a:t>
                </a:r>
              </a:p>
            </p:txBody>
          </p:sp>
        </p:grpSp>
        <p:sp>
          <p:nvSpPr>
            <p:cNvPr id="14" name="AutoShape 14"/>
            <p:cNvSpPr/>
            <p:nvPr/>
          </p:nvSpPr>
          <p:spPr>
            <a:xfrm>
              <a:off x="3937000" y="2235200"/>
              <a:ext cx="0" cy="304800"/>
            </a:xfrm>
            <a:prstGeom prst="line">
              <a:avLst/>
            </a:prstGeom>
            <a:ln w="25400" cap="flat">
              <a:solidFill>
                <a:srgbClr val="2F81F7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0" y="2540000"/>
              <a:ext cx="7874000" cy="965200"/>
              <a:chOff x="0" y="0"/>
              <a:chExt cx="7874000" cy="9652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7874000" cy="965200"/>
              </a:xfrm>
              <a:custGeom>
                <a:avLst/>
                <a:gdLst/>
                <a:ahLst/>
                <a:cxnLst/>
                <a:rect l="l" t="t" r="r" b="b"/>
                <a:pathLst>
                  <a:path w="7874000" h="965200">
                    <a:moveTo>
                      <a:pt x="16387" y="0"/>
                    </a:moveTo>
                    <a:lnTo>
                      <a:pt x="7857613" y="0"/>
                    </a:lnTo>
                    <a:cubicBezTo>
                      <a:pt x="7861959" y="0"/>
                      <a:pt x="7866127" y="1726"/>
                      <a:pt x="7869200" y="4800"/>
                    </a:cubicBezTo>
                    <a:cubicBezTo>
                      <a:pt x="7872274" y="7873"/>
                      <a:pt x="7874000" y="12041"/>
                      <a:pt x="7874000" y="16387"/>
                    </a:cubicBezTo>
                    <a:lnTo>
                      <a:pt x="7874000" y="948813"/>
                    </a:lnTo>
                    <a:cubicBezTo>
                      <a:pt x="7874000" y="953159"/>
                      <a:pt x="7872274" y="957327"/>
                      <a:pt x="7869200" y="960400"/>
                    </a:cubicBezTo>
                    <a:cubicBezTo>
                      <a:pt x="7866127" y="963474"/>
                      <a:pt x="7861959" y="965200"/>
                      <a:pt x="7857613" y="965200"/>
                    </a:cubicBezTo>
                    <a:lnTo>
                      <a:pt x="16387" y="965200"/>
                    </a:lnTo>
                    <a:cubicBezTo>
                      <a:pt x="12041" y="965200"/>
                      <a:pt x="7873" y="963474"/>
                      <a:pt x="4800" y="960400"/>
                    </a:cubicBezTo>
                    <a:cubicBezTo>
                      <a:pt x="1726" y="957327"/>
                      <a:pt x="0" y="953159"/>
                      <a:pt x="0" y="948813"/>
                    </a:cubicBezTo>
                    <a:lnTo>
                      <a:pt x="0" y="16387"/>
                    </a:lnTo>
                    <a:cubicBezTo>
                      <a:pt x="0" y="12041"/>
                      <a:pt x="1726" y="7873"/>
                      <a:pt x="4800" y="4800"/>
                    </a:cubicBezTo>
                    <a:cubicBezTo>
                      <a:pt x="7873" y="1726"/>
                      <a:pt x="12041" y="0"/>
                      <a:pt x="16387" y="0"/>
                    </a:cubicBezTo>
                    <a:close/>
                  </a:path>
                </a:pathLst>
              </a:custGeom>
              <a:solidFill>
                <a:srgbClr val="161B22"/>
              </a:solidFill>
              <a:ln w="9525" cap="sq">
                <a:solidFill>
                  <a:srgbClr val="30363D"/>
                </a:solidFill>
                <a:prstDash val="solid"/>
                <a:miter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28575"/>
                <a:ext cx="7874000" cy="9937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95"/>
                  </a:lnSpc>
                </a:pPr>
                <a:r>
                  <a:rPr lang="en-US" sz="1425" b="1">
                    <a:solidFill>
                      <a:srgbClr val="F0F6FC"/>
                    </a:solidFill>
                    <a:latin typeface="IBM Plex Mono Bold"/>
                    <a:ea typeface="IBM Plex Mono Bold"/>
                    <a:cs typeface="IBM Plex Mono Bold"/>
                    <a:sym typeface="IBM Plex Mono Bold"/>
                  </a:rPr>
                  <a:t>ROOT CAUSE</a:t>
                </a:r>
              </a:p>
            </p:txBody>
          </p:sp>
        </p:grpSp>
        <p:sp>
          <p:nvSpPr>
            <p:cNvPr id="18" name="AutoShape 18"/>
            <p:cNvSpPr/>
            <p:nvPr/>
          </p:nvSpPr>
          <p:spPr>
            <a:xfrm>
              <a:off x="3937000" y="3505200"/>
              <a:ext cx="0" cy="304800"/>
            </a:xfrm>
            <a:prstGeom prst="line">
              <a:avLst/>
            </a:prstGeom>
            <a:ln w="25400" cap="flat">
              <a:solidFill>
                <a:srgbClr val="2F81F7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0" y="3810000"/>
              <a:ext cx="7874000" cy="965200"/>
              <a:chOff x="0" y="0"/>
              <a:chExt cx="7874000" cy="9652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7874000" cy="965200"/>
              </a:xfrm>
              <a:custGeom>
                <a:avLst/>
                <a:gdLst/>
                <a:ahLst/>
                <a:cxnLst/>
                <a:rect l="l" t="t" r="r" b="b"/>
                <a:pathLst>
                  <a:path w="7874000" h="965200">
                    <a:moveTo>
                      <a:pt x="16387" y="0"/>
                    </a:moveTo>
                    <a:lnTo>
                      <a:pt x="7857613" y="0"/>
                    </a:lnTo>
                    <a:cubicBezTo>
                      <a:pt x="7861959" y="0"/>
                      <a:pt x="7866127" y="1726"/>
                      <a:pt x="7869200" y="4800"/>
                    </a:cubicBezTo>
                    <a:cubicBezTo>
                      <a:pt x="7872274" y="7873"/>
                      <a:pt x="7874000" y="12041"/>
                      <a:pt x="7874000" y="16387"/>
                    </a:cubicBezTo>
                    <a:lnTo>
                      <a:pt x="7874000" y="948813"/>
                    </a:lnTo>
                    <a:cubicBezTo>
                      <a:pt x="7874000" y="953159"/>
                      <a:pt x="7872274" y="957327"/>
                      <a:pt x="7869200" y="960400"/>
                    </a:cubicBezTo>
                    <a:cubicBezTo>
                      <a:pt x="7866127" y="963474"/>
                      <a:pt x="7861959" y="965200"/>
                      <a:pt x="7857613" y="965200"/>
                    </a:cubicBezTo>
                    <a:lnTo>
                      <a:pt x="16387" y="965200"/>
                    </a:lnTo>
                    <a:cubicBezTo>
                      <a:pt x="12041" y="965200"/>
                      <a:pt x="7873" y="963474"/>
                      <a:pt x="4800" y="960400"/>
                    </a:cubicBezTo>
                    <a:cubicBezTo>
                      <a:pt x="1726" y="957327"/>
                      <a:pt x="0" y="953159"/>
                      <a:pt x="0" y="948813"/>
                    </a:cubicBezTo>
                    <a:lnTo>
                      <a:pt x="0" y="16387"/>
                    </a:lnTo>
                    <a:cubicBezTo>
                      <a:pt x="0" y="12041"/>
                      <a:pt x="1726" y="7873"/>
                      <a:pt x="4800" y="4800"/>
                    </a:cubicBezTo>
                    <a:cubicBezTo>
                      <a:pt x="7873" y="1726"/>
                      <a:pt x="12041" y="0"/>
                      <a:pt x="16387" y="0"/>
                    </a:cubicBezTo>
                    <a:close/>
                  </a:path>
                </a:pathLst>
              </a:custGeom>
              <a:solidFill>
                <a:srgbClr val="161B22"/>
              </a:solidFill>
              <a:ln w="9525" cap="sq">
                <a:solidFill>
                  <a:srgbClr val="30363D"/>
                </a:solidFill>
                <a:prstDash val="solid"/>
                <a:miter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28575"/>
                <a:ext cx="7874000" cy="9937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95"/>
                  </a:lnSpc>
                </a:pPr>
                <a:r>
                  <a:rPr lang="en-US" sz="1425" b="1">
                    <a:solidFill>
                      <a:srgbClr val="F0F6FC"/>
                    </a:solidFill>
                    <a:latin typeface="IBM Plex Mono Bold"/>
                    <a:ea typeface="IBM Plex Mono Bold"/>
                    <a:cs typeface="IBM Plex Mono Bold"/>
                    <a:sym typeface="IBM Plex Mono Bold"/>
                  </a:rPr>
                  <a:t>MINIMAL FIX</a:t>
                </a:r>
              </a:p>
            </p:txBody>
          </p:sp>
        </p:grpSp>
        <p:sp>
          <p:nvSpPr>
            <p:cNvPr id="22" name="AutoShape 22"/>
            <p:cNvSpPr/>
            <p:nvPr/>
          </p:nvSpPr>
          <p:spPr>
            <a:xfrm>
              <a:off x="3937000" y="4775200"/>
              <a:ext cx="0" cy="304800"/>
            </a:xfrm>
            <a:prstGeom prst="line">
              <a:avLst/>
            </a:prstGeom>
            <a:ln w="25400" cap="flat">
              <a:solidFill>
                <a:srgbClr val="2F81F7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0" y="5080000"/>
              <a:ext cx="7874000" cy="965200"/>
              <a:chOff x="0" y="0"/>
              <a:chExt cx="7874000" cy="9652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7874000" cy="965200"/>
              </a:xfrm>
              <a:custGeom>
                <a:avLst/>
                <a:gdLst/>
                <a:ahLst/>
                <a:cxnLst/>
                <a:rect l="l" t="t" r="r" b="b"/>
                <a:pathLst>
                  <a:path w="7874000" h="965200">
                    <a:moveTo>
                      <a:pt x="16387" y="0"/>
                    </a:moveTo>
                    <a:lnTo>
                      <a:pt x="7857613" y="0"/>
                    </a:lnTo>
                    <a:cubicBezTo>
                      <a:pt x="7861959" y="0"/>
                      <a:pt x="7866127" y="1726"/>
                      <a:pt x="7869200" y="4800"/>
                    </a:cubicBezTo>
                    <a:cubicBezTo>
                      <a:pt x="7872274" y="7873"/>
                      <a:pt x="7874000" y="12041"/>
                      <a:pt x="7874000" y="16387"/>
                    </a:cubicBezTo>
                    <a:lnTo>
                      <a:pt x="7874000" y="948813"/>
                    </a:lnTo>
                    <a:cubicBezTo>
                      <a:pt x="7874000" y="953159"/>
                      <a:pt x="7872274" y="957327"/>
                      <a:pt x="7869200" y="960400"/>
                    </a:cubicBezTo>
                    <a:cubicBezTo>
                      <a:pt x="7866127" y="963474"/>
                      <a:pt x="7861959" y="965200"/>
                      <a:pt x="7857613" y="965200"/>
                    </a:cubicBezTo>
                    <a:lnTo>
                      <a:pt x="16387" y="965200"/>
                    </a:lnTo>
                    <a:cubicBezTo>
                      <a:pt x="12041" y="965200"/>
                      <a:pt x="7873" y="963474"/>
                      <a:pt x="4800" y="960400"/>
                    </a:cubicBezTo>
                    <a:cubicBezTo>
                      <a:pt x="1726" y="957327"/>
                      <a:pt x="0" y="953159"/>
                      <a:pt x="0" y="948813"/>
                    </a:cubicBezTo>
                    <a:lnTo>
                      <a:pt x="0" y="16387"/>
                    </a:lnTo>
                    <a:cubicBezTo>
                      <a:pt x="0" y="12041"/>
                      <a:pt x="1726" y="7873"/>
                      <a:pt x="4800" y="4800"/>
                    </a:cubicBezTo>
                    <a:cubicBezTo>
                      <a:pt x="7873" y="1726"/>
                      <a:pt x="12041" y="0"/>
                      <a:pt x="16387" y="0"/>
                    </a:cubicBezTo>
                    <a:close/>
                  </a:path>
                </a:pathLst>
              </a:custGeom>
              <a:solidFill>
                <a:srgbClr val="161B22"/>
              </a:solidFill>
              <a:ln w="9525" cap="sq">
                <a:solidFill>
                  <a:srgbClr val="30363D"/>
                </a:solidFill>
                <a:prstDash val="solid"/>
                <a:miter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0" y="-28575"/>
                <a:ext cx="7874000" cy="9937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95"/>
                  </a:lnSpc>
                </a:pPr>
                <a:r>
                  <a:rPr lang="en-US" sz="1425" b="1">
                    <a:solidFill>
                      <a:srgbClr val="F0F6FC"/>
                    </a:solidFill>
                    <a:latin typeface="IBM Plex Mono Bold"/>
                    <a:ea typeface="IBM Plex Mono Bold"/>
                    <a:cs typeface="IBM Plex Mono Bold"/>
                    <a:sym typeface="IBM Plex Mono Bold"/>
                  </a:rPr>
                  <a:t>REGRESSION TESTS</a:t>
                </a:r>
              </a:p>
            </p:txBody>
          </p:sp>
        </p:grpSp>
        <p:sp>
          <p:nvSpPr>
            <p:cNvPr id="26" name="AutoShape 26"/>
            <p:cNvSpPr/>
            <p:nvPr/>
          </p:nvSpPr>
          <p:spPr>
            <a:xfrm>
              <a:off x="3937000" y="6045200"/>
              <a:ext cx="0" cy="304800"/>
            </a:xfrm>
            <a:prstGeom prst="line">
              <a:avLst/>
            </a:prstGeom>
            <a:ln w="25400" cap="flat">
              <a:solidFill>
                <a:srgbClr val="2F81F7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0" y="6350000"/>
              <a:ext cx="7874000" cy="965200"/>
              <a:chOff x="0" y="0"/>
              <a:chExt cx="7874000" cy="9652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7874000" cy="965200"/>
              </a:xfrm>
              <a:custGeom>
                <a:avLst/>
                <a:gdLst/>
                <a:ahLst/>
                <a:cxnLst/>
                <a:rect l="l" t="t" r="r" b="b"/>
                <a:pathLst>
                  <a:path w="7874000" h="965200">
                    <a:moveTo>
                      <a:pt x="16387" y="0"/>
                    </a:moveTo>
                    <a:lnTo>
                      <a:pt x="7857613" y="0"/>
                    </a:lnTo>
                    <a:cubicBezTo>
                      <a:pt x="7861959" y="0"/>
                      <a:pt x="7866127" y="1726"/>
                      <a:pt x="7869200" y="4800"/>
                    </a:cubicBezTo>
                    <a:cubicBezTo>
                      <a:pt x="7872274" y="7873"/>
                      <a:pt x="7874000" y="12041"/>
                      <a:pt x="7874000" y="16387"/>
                    </a:cubicBezTo>
                    <a:lnTo>
                      <a:pt x="7874000" y="948813"/>
                    </a:lnTo>
                    <a:cubicBezTo>
                      <a:pt x="7874000" y="953159"/>
                      <a:pt x="7872274" y="957327"/>
                      <a:pt x="7869200" y="960400"/>
                    </a:cubicBezTo>
                    <a:cubicBezTo>
                      <a:pt x="7866127" y="963474"/>
                      <a:pt x="7861959" y="965200"/>
                      <a:pt x="7857613" y="965200"/>
                    </a:cubicBezTo>
                    <a:lnTo>
                      <a:pt x="16387" y="965200"/>
                    </a:lnTo>
                    <a:cubicBezTo>
                      <a:pt x="12041" y="965200"/>
                      <a:pt x="7873" y="963474"/>
                      <a:pt x="4800" y="960400"/>
                    </a:cubicBezTo>
                    <a:cubicBezTo>
                      <a:pt x="1726" y="957327"/>
                      <a:pt x="0" y="953159"/>
                      <a:pt x="0" y="948813"/>
                    </a:cubicBezTo>
                    <a:lnTo>
                      <a:pt x="0" y="16387"/>
                    </a:lnTo>
                    <a:cubicBezTo>
                      <a:pt x="0" y="12041"/>
                      <a:pt x="1726" y="7873"/>
                      <a:pt x="4800" y="4800"/>
                    </a:cubicBezTo>
                    <a:cubicBezTo>
                      <a:pt x="7873" y="1726"/>
                      <a:pt x="12041" y="0"/>
                      <a:pt x="16387" y="0"/>
                    </a:cubicBezTo>
                    <a:close/>
                  </a:path>
                </a:pathLst>
              </a:custGeom>
              <a:solidFill>
                <a:srgbClr val="161B22"/>
              </a:solidFill>
              <a:ln w="9525" cap="sq">
                <a:solidFill>
                  <a:srgbClr val="30363D"/>
                </a:solidFill>
                <a:prstDash val="solid"/>
                <a:miter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0" y="-28575"/>
                <a:ext cx="7874000" cy="9937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95"/>
                  </a:lnSpc>
                </a:pPr>
                <a:r>
                  <a:rPr lang="en-US" sz="1425" b="1">
                    <a:solidFill>
                      <a:srgbClr val="F0F6FC"/>
                    </a:solidFill>
                    <a:latin typeface="IBM Plex Mono Bold"/>
                    <a:ea typeface="IBM Plex Mono Bold"/>
                    <a:cs typeface="IBM Plex Mono Bold"/>
                    <a:sym typeface="IBM Plex Mono Bold"/>
                  </a:rPr>
                  <a:t>FULL SUITE</a:t>
                </a:r>
              </a:p>
            </p:txBody>
          </p:sp>
        </p:grpSp>
        <p:sp>
          <p:nvSpPr>
            <p:cNvPr id="30" name="AutoShape 30"/>
            <p:cNvSpPr/>
            <p:nvPr/>
          </p:nvSpPr>
          <p:spPr>
            <a:xfrm>
              <a:off x="3937000" y="7315200"/>
              <a:ext cx="0" cy="304800"/>
            </a:xfrm>
            <a:prstGeom prst="line">
              <a:avLst/>
            </a:prstGeom>
            <a:ln w="25400" cap="flat">
              <a:solidFill>
                <a:srgbClr val="2F81F7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0" y="7620000"/>
              <a:ext cx="7874000" cy="965200"/>
              <a:chOff x="0" y="0"/>
              <a:chExt cx="7874000" cy="9652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7874000" cy="965200"/>
              </a:xfrm>
              <a:custGeom>
                <a:avLst/>
                <a:gdLst/>
                <a:ahLst/>
                <a:cxnLst/>
                <a:rect l="l" t="t" r="r" b="b"/>
                <a:pathLst>
                  <a:path w="7874000" h="965200">
                    <a:moveTo>
                      <a:pt x="16387" y="0"/>
                    </a:moveTo>
                    <a:lnTo>
                      <a:pt x="7857613" y="0"/>
                    </a:lnTo>
                    <a:cubicBezTo>
                      <a:pt x="7861959" y="0"/>
                      <a:pt x="7866127" y="1726"/>
                      <a:pt x="7869200" y="4800"/>
                    </a:cubicBezTo>
                    <a:cubicBezTo>
                      <a:pt x="7872274" y="7873"/>
                      <a:pt x="7874000" y="12041"/>
                      <a:pt x="7874000" y="16387"/>
                    </a:cubicBezTo>
                    <a:lnTo>
                      <a:pt x="7874000" y="948813"/>
                    </a:lnTo>
                    <a:cubicBezTo>
                      <a:pt x="7874000" y="953159"/>
                      <a:pt x="7872274" y="957327"/>
                      <a:pt x="7869200" y="960400"/>
                    </a:cubicBezTo>
                    <a:cubicBezTo>
                      <a:pt x="7866127" y="963474"/>
                      <a:pt x="7861959" y="965200"/>
                      <a:pt x="7857613" y="965200"/>
                    </a:cubicBezTo>
                    <a:lnTo>
                      <a:pt x="16387" y="965200"/>
                    </a:lnTo>
                    <a:cubicBezTo>
                      <a:pt x="12041" y="965200"/>
                      <a:pt x="7873" y="963474"/>
                      <a:pt x="4800" y="960400"/>
                    </a:cubicBezTo>
                    <a:cubicBezTo>
                      <a:pt x="1726" y="957327"/>
                      <a:pt x="0" y="953159"/>
                      <a:pt x="0" y="948813"/>
                    </a:cubicBezTo>
                    <a:lnTo>
                      <a:pt x="0" y="16387"/>
                    </a:lnTo>
                    <a:cubicBezTo>
                      <a:pt x="0" y="12041"/>
                      <a:pt x="1726" y="7873"/>
                      <a:pt x="4800" y="4800"/>
                    </a:cubicBezTo>
                    <a:cubicBezTo>
                      <a:pt x="7873" y="1726"/>
                      <a:pt x="12041" y="0"/>
                      <a:pt x="16387" y="0"/>
                    </a:cubicBezTo>
                    <a:close/>
                  </a:path>
                </a:pathLst>
              </a:custGeom>
              <a:solidFill>
                <a:srgbClr val="21262D"/>
              </a:solidFill>
              <a:ln w="9525" cap="sq">
                <a:solidFill>
                  <a:srgbClr val="30363D"/>
                </a:solidFill>
                <a:prstDash val="solid"/>
                <a:miter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0" y="-28575"/>
                <a:ext cx="7874000" cy="9937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95"/>
                  </a:lnSpc>
                </a:pPr>
                <a:r>
                  <a:rPr lang="en-US" sz="1425" b="1">
                    <a:solidFill>
                      <a:srgbClr val="F0F6FC"/>
                    </a:solidFill>
                    <a:latin typeface="IBM Plex Mono Bold"/>
                    <a:ea typeface="IBM Plex Mono Bold"/>
                    <a:cs typeface="IBM Plex Mono Bold"/>
                    <a:sym typeface="IBM Plex Mono Bold"/>
                  </a:rPr>
                  <a:t>VERIFICATION</a:t>
                </a:r>
              </a:p>
            </p:txBody>
          </p:sp>
        </p:grpSp>
      </p:grpSp>
      <p:grpSp>
        <p:nvGrpSpPr>
          <p:cNvPr id="34" name="Group 34"/>
          <p:cNvGrpSpPr/>
          <p:nvPr/>
        </p:nvGrpSpPr>
        <p:grpSpPr>
          <a:xfrm>
            <a:off x="7620000" y="2286000"/>
            <a:ext cx="8763000" cy="1524000"/>
            <a:chOff x="0" y="0"/>
            <a:chExt cx="11684000" cy="2032000"/>
          </a:xfrm>
        </p:grpSpPr>
        <p:grpSp>
          <p:nvGrpSpPr>
            <p:cNvPr id="35" name="Group 35"/>
            <p:cNvGrpSpPr/>
            <p:nvPr/>
          </p:nvGrpSpPr>
          <p:grpSpPr>
            <a:xfrm>
              <a:off x="0" y="0"/>
              <a:ext cx="11684000" cy="2032000"/>
              <a:chOff x="0" y="0"/>
              <a:chExt cx="11684000" cy="20320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11684000" cy="2032000"/>
              </a:xfrm>
              <a:custGeom>
                <a:avLst/>
                <a:gdLst/>
                <a:ahLst/>
                <a:cxnLst/>
                <a:rect l="l" t="t" r="r" b="b"/>
                <a:pathLst>
                  <a:path w="11684000" h="2032000">
                    <a:moveTo>
                      <a:pt x="0" y="0"/>
                    </a:moveTo>
                    <a:lnTo>
                      <a:pt x="11684000" y="0"/>
                    </a:lnTo>
                    <a:lnTo>
                      <a:pt x="11684000" y="2032000"/>
                    </a:lnTo>
                    <a:lnTo>
                      <a:pt x="0" y="2032000"/>
                    </a:lnTo>
                    <a:close/>
                  </a:path>
                </a:pathLst>
              </a:custGeom>
              <a:solidFill>
                <a:srgbClr val="161B22"/>
              </a:solidFill>
              <a:ln w="9525" cap="sq">
                <a:solidFill>
                  <a:srgbClr val="30363D"/>
                </a:solidFill>
                <a:prstDash val="solid"/>
                <a:miter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0" y="-38100"/>
                <a:ext cx="11684000" cy="2070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8" name="TextBox 38"/>
            <p:cNvSpPr txBox="1"/>
            <p:nvPr/>
          </p:nvSpPr>
          <p:spPr>
            <a:xfrm>
              <a:off x="508000" y="342900"/>
              <a:ext cx="4191000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 b="1">
                  <a:solidFill>
                    <a:srgbClr val="2F81F7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INVESTIGATE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08000" y="914400"/>
              <a:ext cx="8509000" cy="4438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8B949E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Understand repository behavior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620000" y="4238625"/>
            <a:ext cx="8763000" cy="1524000"/>
            <a:chOff x="0" y="0"/>
            <a:chExt cx="11684000" cy="2032000"/>
          </a:xfrm>
        </p:grpSpPr>
        <p:grpSp>
          <p:nvGrpSpPr>
            <p:cNvPr id="41" name="Group 41"/>
            <p:cNvGrpSpPr/>
            <p:nvPr/>
          </p:nvGrpSpPr>
          <p:grpSpPr>
            <a:xfrm>
              <a:off x="0" y="0"/>
              <a:ext cx="11684000" cy="2032000"/>
              <a:chOff x="0" y="0"/>
              <a:chExt cx="11684000" cy="203200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11684000" cy="2032000"/>
              </a:xfrm>
              <a:custGeom>
                <a:avLst/>
                <a:gdLst/>
                <a:ahLst/>
                <a:cxnLst/>
                <a:rect l="l" t="t" r="r" b="b"/>
                <a:pathLst>
                  <a:path w="11684000" h="2032000">
                    <a:moveTo>
                      <a:pt x="0" y="0"/>
                    </a:moveTo>
                    <a:lnTo>
                      <a:pt x="11684000" y="0"/>
                    </a:lnTo>
                    <a:lnTo>
                      <a:pt x="11684000" y="2032000"/>
                    </a:lnTo>
                    <a:lnTo>
                      <a:pt x="0" y="2032000"/>
                    </a:lnTo>
                    <a:close/>
                  </a:path>
                </a:pathLst>
              </a:custGeom>
              <a:solidFill>
                <a:srgbClr val="161B22"/>
              </a:solidFill>
              <a:ln w="9525" cap="sq">
                <a:solidFill>
                  <a:srgbClr val="30363D"/>
                </a:solidFill>
                <a:prstDash val="solid"/>
                <a:miter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0" y="-38100"/>
                <a:ext cx="11684000" cy="2070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44" name="TextBox 44"/>
            <p:cNvSpPr txBox="1"/>
            <p:nvPr/>
          </p:nvSpPr>
          <p:spPr>
            <a:xfrm>
              <a:off x="508000" y="342900"/>
              <a:ext cx="4191000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 b="1">
                  <a:solidFill>
                    <a:srgbClr val="D29922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FIX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08000" y="914400"/>
              <a:ext cx="8509000" cy="4438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8B949E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Trace and correct root causes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7620000" y="6191250"/>
            <a:ext cx="8763000" cy="1524000"/>
            <a:chOff x="0" y="0"/>
            <a:chExt cx="11684000" cy="2032000"/>
          </a:xfrm>
        </p:grpSpPr>
        <p:grpSp>
          <p:nvGrpSpPr>
            <p:cNvPr id="47" name="Group 47"/>
            <p:cNvGrpSpPr/>
            <p:nvPr/>
          </p:nvGrpSpPr>
          <p:grpSpPr>
            <a:xfrm>
              <a:off x="0" y="0"/>
              <a:ext cx="11684000" cy="2032000"/>
              <a:chOff x="0" y="0"/>
              <a:chExt cx="11684000" cy="203200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11684000" cy="2032000"/>
              </a:xfrm>
              <a:custGeom>
                <a:avLst/>
                <a:gdLst/>
                <a:ahLst/>
                <a:cxnLst/>
                <a:rect l="l" t="t" r="r" b="b"/>
                <a:pathLst>
                  <a:path w="11684000" h="2032000">
                    <a:moveTo>
                      <a:pt x="0" y="0"/>
                    </a:moveTo>
                    <a:lnTo>
                      <a:pt x="11684000" y="0"/>
                    </a:lnTo>
                    <a:lnTo>
                      <a:pt x="11684000" y="2032000"/>
                    </a:lnTo>
                    <a:lnTo>
                      <a:pt x="0" y="2032000"/>
                    </a:lnTo>
                    <a:close/>
                  </a:path>
                </a:pathLst>
              </a:custGeom>
              <a:solidFill>
                <a:srgbClr val="161B22"/>
              </a:solidFill>
              <a:ln w="9525" cap="sq">
                <a:solidFill>
                  <a:srgbClr val="30363D"/>
                </a:solidFill>
                <a:prstDash val="solid"/>
                <a:miter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0" y="-38100"/>
                <a:ext cx="11684000" cy="2070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50" name="TextBox 50"/>
            <p:cNvSpPr txBox="1"/>
            <p:nvPr/>
          </p:nvSpPr>
          <p:spPr>
            <a:xfrm>
              <a:off x="508000" y="342900"/>
              <a:ext cx="4191000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 b="1">
                  <a:solidFill>
                    <a:srgbClr val="3FB950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VERIFY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08000" y="914400"/>
              <a:ext cx="8509000" cy="4438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8B949E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Run regression and full-suite validation</a:t>
              </a:r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7620000" y="8543925"/>
            <a:ext cx="9525000" cy="192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lang="en-US" sz="1125">
                <a:solidFill>
                  <a:srgbClr val="F0F6FC"/>
                </a:solidFill>
                <a:latin typeface="IBM Plex Mono"/>
                <a:ea typeface="IBM Plex Mono"/>
                <a:cs typeface="IBM Plex Mono"/>
                <a:sym typeface="IBM Plex Mono"/>
              </a:rPr>
              <a:t>IBM Bob 2.0  →  DEVELOPMENT AGENT     CodePilot  →  DEVELOPER WORKFLOW     TaskFlow API  →  TARGET CODEBASE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23875"/>
            <a:ext cx="8572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08">
                <a:solidFill>
                  <a:srgbClr val="2F81F7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DEVELOPMENT EVIDENCE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1028700"/>
            <a:ext cx="14763750" cy="653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 b="1">
                <a:solidFill>
                  <a:srgbClr val="F0F6FC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IBM Bob 2.0 Is Part of the Development Process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573500" y="581025"/>
            <a:ext cx="85725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b="1" spc="108">
                <a:solidFill>
                  <a:srgbClr val="2F81F7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04</a:t>
            </a:r>
          </a:p>
        </p:txBody>
      </p:sp>
      <p:sp>
        <p:nvSpPr>
          <p:cNvPr id="5" name="AutoShape 5"/>
          <p:cNvSpPr/>
          <p:nvPr/>
        </p:nvSpPr>
        <p:spPr>
          <a:xfrm>
            <a:off x="914400" y="1866900"/>
            <a:ext cx="16459200" cy="0"/>
          </a:xfrm>
          <a:prstGeom prst="line">
            <a:avLst/>
          </a:prstGeom>
          <a:ln w="9525" cap="flat">
            <a:solidFill>
              <a:srgbClr val="30363D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>
            <a:off x="914400" y="2381250"/>
            <a:ext cx="16459200" cy="704850"/>
            <a:chOff x="0" y="0"/>
            <a:chExt cx="21945600" cy="939800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2939143" cy="939800"/>
              <a:chOff x="0" y="0"/>
              <a:chExt cx="2939143" cy="9398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939143" cy="939800"/>
              </a:xfrm>
              <a:custGeom>
                <a:avLst/>
                <a:gdLst/>
                <a:ahLst/>
                <a:cxnLst/>
                <a:rect l="l" t="t" r="r" b="b"/>
                <a:pathLst>
                  <a:path w="2939143" h="939800">
                    <a:moveTo>
                      <a:pt x="43901" y="0"/>
                    </a:moveTo>
                    <a:lnTo>
                      <a:pt x="2895242" y="0"/>
                    </a:lnTo>
                    <a:cubicBezTo>
                      <a:pt x="2906885" y="0"/>
                      <a:pt x="2918052" y="4625"/>
                      <a:pt x="2926285" y="12858"/>
                    </a:cubicBezTo>
                    <a:cubicBezTo>
                      <a:pt x="2934518" y="21091"/>
                      <a:pt x="2939143" y="32258"/>
                      <a:pt x="2939143" y="43901"/>
                    </a:cubicBezTo>
                    <a:lnTo>
                      <a:pt x="2939143" y="895899"/>
                    </a:lnTo>
                    <a:cubicBezTo>
                      <a:pt x="2939143" y="907542"/>
                      <a:pt x="2934518" y="918709"/>
                      <a:pt x="2926285" y="926942"/>
                    </a:cubicBezTo>
                    <a:cubicBezTo>
                      <a:pt x="2918052" y="935175"/>
                      <a:pt x="2906885" y="939800"/>
                      <a:pt x="2895242" y="939800"/>
                    </a:cubicBezTo>
                    <a:lnTo>
                      <a:pt x="43901" y="939800"/>
                    </a:lnTo>
                    <a:cubicBezTo>
                      <a:pt x="32258" y="939800"/>
                      <a:pt x="21091" y="935175"/>
                      <a:pt x="12858" y="926942"/>
                    </a:cubicBezTo>
                    <a:cubicBezTo>
                      <a:pt x="4625" y="918709"/>
                      <a:pt x="0" y="907542"/>
                      <a:pt x="0" y="895899"/>
                    </a:cubicBezTo>
                    <a:lnTo>
                      <a:pt x="0" y="43901"/>
                    </a:lnTo>
                    <a:cubicBezTo>
                      <a:pt x="0" y="32258"/>
                      <a:pt x="4625" y="21091"/>
                      <a:pt x="12858" y="12858"/>
                    </a:cubicBezTo>
                    <a:cubicBezTo>
                      <a:pt x="21091" y="4625"/>
                      <a:pt x="32258" y="0"/>
                      <a:pt x="43901" y="0"/>
                    </a:cubicBezTo>
                    <a:close/>
                  </a:path>
                </a:pathLst>
              </a:custGeom>
              <a:solidFill>
                <a:srgbClr val="161B22"/>
              </a:solidFill>
              <a:ln w="9525" cap="sq">
                <a:solidFill>
                  <a:srgbClr val="30363D"/>
                </a:solidFill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28575"/>
                <a:ext cx="2939143" cy="9683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95"/>
                  </a:lnSpc>
                </a:pPr>
                <a:r>
                  <a:rPr lang="en-US" sz="1425" b="1">
                    <a:solidFill>
                      <a:srgbClr val="F0F6FC"/>
                    </a:solidFill>
                    <a:latin typeface="IBM Plex Mono Bold"/>
                    <a:ea typeface="IBM Plex Mono Bold"/>
                    <a:cs typeface="IBM Plex Mono Bold"/>
                    <a:sym typeface="IBM Plex Mono Bold"/>
                  </a:rPr>
                  <a:t>ISSUE</a:t>
                </a:r>
              </a:p>
            </p:txBody>
          </p:sp>
        </p:grpSp>
        <p:sp>
          <p:nvSpPr>
            <p:cNvPr id="10" name="AutoShape 10"/>
            <p:cNvSpPr/>
            <p:nvPr/>
          </p:nvSpPr>
          <p:spPr>
            <a:xfrm>
              <a:off x="2939143" y="469900"/>
              <a:ext cx="228600" cy="0"/>
            </a:xfrm>
            <a:prstGeom prst="line">
              <a:avLst/>
            </a:prstGeom>
            <a:ln w="25400" cap="flat">
              <a:solidFill>
                <a:srgbClr val="2F81F7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3167743" y="0"/>
              <a:ext cx="2939143" cy="939800"/>
              <a:chOff x="0" y="0"/>
              <a:chExt cx="2939143" cy="9398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2939143" cy="939800"/>
              </a:xfrm>
              <a:custGeom>
                <a:avLst/>
                <a:gdLst/>
                <a:ahLst/>
                <a:cxnLst/>
                <a:rect l="l" t="t" r="r" b="b"/>
                <a:pathLst>
                  <a:path w="2939143" h="939800">
                    <a:moveTo>
                      <a:pt x="43901" y="0"/>
                    </a:moveTo>
                    <a:lnTo>
                      <a:pt x="2895242" y="0"/>
                    </a:lnTo>
                    <a:cubicBezTo>
                      <a:pt x="2906885" y="0"/>
                      <a:pt x="2918052" y="4625"/>
                      <a:pt x="2926285" y="12858"/>
                    </a:cubicBezTo>
                    <a:cubicBezTo>
                      <a:pt x="2934518" y="21091"/>
                      <a:pt x="2939143" y="32258"/>
                      <a:pt x="2939143" y="43901"/>
                    </a:cubicBezTo>
                    <a:lnTo>
                      <a:pt x="2939143" y="895899"/>
                    </a:lnTo>
                    <a:cubicBezTo>
                      <a:pt x="2939143" y="907542"/>
                      <a:pt x="2934518" y="918709"/>
                      <a:pt x="2926285" y="926942"/>
                    </a:cubicBezTo>
                    <a:cubicBezTo>
                      <a:pt x="2918052" y="935175"/>
                      <a:pt x="2906885" y="939800"/>
                      <a:pt x="2895242" y="939800"/>
                    </a:cubicBezTo>
                    <a:lnTo>
                      <a:pt x="43901" y="939800"/>
                    </a:lnTo>
                    <a:cubicBezTo>
                      <a:pt x="32258" y="939800"/>
                      <a:pt x="21091" y="935175"/>
                      <a:pt x="12858" y="926942"/>
                    </a:cubicBezTo>
                    <a:cubicBezTo>
                      <a:pt x="4625" y="918709"/>
                      <a:pt x="0" y="907542"/>
                      <a:pt x="0" y="895899"/>
                    </a:cubicBezTo>
                    <a:lnTo>
                      <a:pt x="0" y="43901"/>
                    </a:lnTo>
                    <a:cubicBezTo>
                      <a:pt x="0" y="32258"/>
                      <a:pt x="4625" y="21091"/>
                      <a:pt x="12858" y="12858"/>
                    </a:cubicBezTo>
                    <a:cubicBezTo>
                      <a:pt x="21091" y="4625"/>
                      <a:pt x="32258" y="0"/>
                      <a:pt x="43901" y="0"/>
                    </a:cubicBezTo>
                    <a:close/>
                  </a:path>
                </a:pathLst>
              </a:custGeom>
              <a:solidFill>
                <a:srgbClr val="161B22"/>
              </a:solidFill>
              <a:ln w="9525" cap="sq">
                <a:solidFill>
                  <a:srgbClr val="30363D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28575"/>
                <a:ext cx="2939143" cy="9683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95"/>
                  </a:lnSpc>
                </a:pPr>
                <a:r>
                  <a:rPr lang="en-US" sz="1425" b="1">
                    <a:solidFill>
                      <a:srgbClr val="F0F6FC"/>
                    </a:solidFill>
                    <a:latin typeface="IBM Plex Mono Bold"/>
                    <a:ea typeface="IBM Plex Mono Bold"/>
                    <a:cs typeface="IBM Plex Mono Bold"/>
                    <a:sym typeface="IBM Plex Mono Bold"/>
                  </a:rPr>
                  <a:t>REPO ANALYSIS</a:t>
                </a:r>
              </a:p>
            </p:txBody>
          </p:sp>
        </p:grpSp>
        <p:sp>
          <p:nvSpPr>
            <p:cNvPr id="14" name="AutoShape 14"/>
            <p:cNvSpPr/>
            <p:nvPr/>
          </p:nvSpPr>
          <p:spPr>
            <a:xfrm>
              <a:off x="6106886" y="469900"/>
              <a:ext cx="228600" cy="0"/>
            </a:xfrm>
            <a:prstGeom prst="line">
              <a:avLst/>
            </a:prstGeom>
            <a:ln w="25400" cap="flat">
              <a:solidFill>
                <a:srgbClr val="2F81F7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6335486" y="0"/>
              <a:ext cx="2939143" cy="939800"/>
              <a:chOff x="0" y="0"/>
              <a:chExt cx="2939143" cy="9398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2939143" cy="939800"/>
              </a:xfrm>
              <a:custGeom>
                <a:avLst/>
                <a:gdLst/>
                <a:ahLst/>
                <a:cxnLst/>
                <a:rect l="l" t="t" r="r" b="b"/>
                <a:pathLst>
                  <a:path w="2939143" h="939800">
                    <a:moveTo>
                      <a:pt x="43901" y="0"/>
                    </a:moveTo>
                    <a:lnTo>
                      <a:pt x="2895242" y="0"/>
                    </a:lnTo>
                    <a:cubicBezTo>
                      <a:pt x="2906885" y="0"/>
                      <a:pt x="2918052" y="4625"/>
                      <a:pt x="2926285" y="12858"/>
                    </a:cubicBezTo>
                    <a:cubicBezTo>
                      <a:pt x="2934518" y="21091"/>
                      <a:pt x="2939143" y="32258"/>
                      <a:pt x="2939143" y="43901"/>
                    </a:cubicBezTo>
                    <a:lnTo>
                      <a:pt x="2939143" y="895899"/>
                    </a:lnTo>
                    <a:cubicBezTo>
                      <a:pt x="2939143" y="907542"/>
                      <a:pt x="2934518" y="918709"/>
                      <a:pt x="2926285" y="926942"/>
                    </a:cubicBezTo>
                    <a:cubicBezTo>
                      <a:pt x="2918052" y="935175"/>
                      <a:pt x="2906885" y="939800"/>
                      <a:pt x="2895242" y="939800"/>
                    </a:cubicBezTo>
                    <a:lnTo>
                      <a:pt x="43901" y="939800"/>
                    </a:lnTo>
                    <a:cubicBezTo>
                      <a:pt x="32258" y="939800"/>
                      <a:pt x="21091" y="935175"/>
                      <a:pt x="12858" y="926942"/>
                    </a:cubicBezTo>
                    <a:cubicBezTo>
                      <a:pt x="4625" y="918709"/>
                      <a:pt x="0" y="907542"/>
                      <a:pt x="0" y="895899"/>
                    </a:cubicBezTo>
                    <a:lnTo>
                      <a:pt x="0" y="43901"/>
                    </a:lnTo>
                    <a:cubicBezTo>
                      <a:pt x="0" y="32258"/>
                      <a:pt x="4625" y="21091"/>
                      <a:pt x="12858" y="12858"/>
                    </a:cubicBezTo>
                    <a:cubicBezTo>
                      <a:pt x="21091" y="4625"/>
                      <a:pt x="32258" y="0"/>
                      <a:pt x="43901" y="0"/>
                    </a:cubicBezTo>
                    <a:close/>
                  </a:path>
                </a:pathLst>
              </a:custGeom>
              <a:solidFill>
                <a:srgbClr val="161B22"/>
              </a:solidFill>
              <a:ln w="9525" cap="sq">
                <a:solidFill>
                  <a:srgbClr val="30363D"/>
                </a:solidFill>
                <a:prstDash val="solid"/>
                <a:miter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28575"/>
                <a:ext cx="2939143" cy="9683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95"/>
                  </a:lnSpc>
                </a:pPr>
                <a:r>
                  <a:rPr lang="en-US" sz="1425" b="1">
                    <a:solidFill>
                      <a:srgbClr val="F0F6FC"/>
                    </a:solidFill>
                    <a:latin typeface="IBM Plex Mono Bold"/>
                    <a:ea typeface="IBM Plex Mono Bold"/>
                    <a:cs typeface="IBM Plex Mono Bold"/>
                    <a:sym typeface="IBM Plex Mono Bold"/>
                  </a:rPr>
                  <a:t>INVESTIGATION</a:t>
                </a:r>
              </a:p>
            </p:txBody>
          </p:sp>
        </p:grpSp>
        <p:sp>
          <p:nvSpPr>
            <p:cNvPr id="18" name="AutoShape 18"/>
            <p:cNvSpPr/>
            <p:nvPr/>
          </p:nvSpPr>
          <p:spPr>
            <a:xfrm>
              <a:off x="9274629" y="469900"/>
              <a:ext cx="228600" cy="0"/>
            </a:xfrm>
            <a:prstGeom prst="line">
              <a:avLst/>
            </a:prstGeom>
            <a:ln w="25400" cap="flat">
              <a:solidFill>
                <a:srgbClr val="2F81F7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9503229" y="0"/>
              <a:ext cx="2939143" cy="939800"/>
              <a:chOff x="0" y="0"/>
              <a:chExt cx="2939143" cy="9398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2939143" cy="939800"/>
              </a:xfrm>
              <a:custGeom>
                <a:avLst/>
                <a:gdLst/>
                <a:ahLst/>
                <a:cxnLst/>
                <a:rect l="l" t="t" r="r" b="b"/>
                <a:pathLst>
                  <a:path w="2939143" h="939800">
                    <a:moveTo>
                      <a:pt x="43901" y="0"/>
                    </a:moveTo>
                    <a:lnTo>
                      <a:pt x="2895242" y="0"/>
                    </a:lnTo>
                    <a:cubicBezTo>
                      <a:pt x="2906885" y="0"/>
                      <a:pt x="2918052" y="4625"/>
                      <a:pt x="2926285" y="12858"/>
                    </a:cubicBezTo>
                    <a:cubicBezTo>
                      <a:pt x="2934518" y="21091"/>
                      <a:pt x="2939143" y="32258"/>
                      <a:pt x="2939143" y="43901"/>
                    </a:cubicBezTo>
                    <a:lnTo>
                      <a:pt x="2939143" y="895899"/>
                    </a:lnTo>
                    <a:cubicBezTo>
                      <a:pt x="2939143" y="907542"/>
                      <a:pt x="2934518" y="918709"/>
                      <a:pt x="2926285" y="926942"/>
                    </a:cubicBezTo>
                    <a:cubicBezTo>
                      <a:pt x="2918052" y="935175"/>
                      <a:pt x="2906885" y="939800"/>
                      <a:pt x="2895242" y="939800"/>
                    </a:cubicBezTo>
                    <a:lnTo>
                      <a:pt x="43901" y="939800"/>
                    </a:lnTo>
                    <a:cubicBezTo>
                      <a:pt x="32258" y="939800"/>
                      <a:pt x="21091" y="935175"/>
                      <a:pt x="12858" y="926942"/>
                    </a:cubicBezTo>
                    <a:cubicBezTo>
                      <a:pt x="4625" y="918709"/>
                      <a:pt x="0" y="907542"/>
                      <a:pt x="0" y="895899"/>
                    </a:cubicBezTo>
                    <a:lnTo>
                      <a:pt x="0" y="43901"/>
                    </a:lnTo>
                    <a:cubicBezTo>
                      <a:pt x="0" y="32258"/>
                      <a:pt x="4625" y="21091"/>
                      <a:pt x="12858" y="12858"/>
                    </a:cubicBezTo>
                    <a:cubicBezTo>
                      <a:pt x="21091" y="4625"/>
                      <a:pt x="32258" y="0"/>
                      <a:pt x="43901" y="0"/>
                    </a:cubicBezTo>
                    <a:close/>
                  </a:path>
                </a:pathLst>
              </a:custGeom>
              <a:solidFill>
                <a:srgbClr val="161B22"/>
              </a:solidFill>
              <a:ln w="9525" cap="sq">
                <a:solidFill>
                  <a:srgbClr val="30363D"/>
                </a:solidFill>
                <a:prstDash val="solid"/>
                <a:miter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28575"/>
                <a:ext cx="2939143" cy="9683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95"/>
                  </a:lnSpc>
                </a:pPr>
                <a:r>
                  <a:rPr lang="en-US" sz="1425" b="1">
                    <a:solidFill>
                      <a:srgbClr val="F0F6FC"/>
                    </a:solidFill>
                    <a:latin typeface="IBM Plex Mono Bold"/>
                    <a:ea typeface="IBM Plex Mono Bold"/>
                    <a:cs typeface="IBM Plex Mono Bold"/>
                    <a:sym typeface="IBM Plex Mono Bold"/>
                  </a:rPr>
                  <a:t>ROOT CAUSE</a:t>
                </a:r>
              </a:p>
            </p:txBody>
          </p:sp>
        </p:grpSp>
        <p:sp>
          <p:nvSpPr>
            <p:cNvPr id="22" name="AutoShape 22"/>
            <p:cNvSpPr/>
            <p:nvPr/>
          </p:nvSpPr>
          <p:spPr>
            <a:xfrm>
              <a:off x="12442371" y="469900"/>
              <a:ext cx="228600" cy="0"/>
            </a:xfrm>
            <a:prstGeom prst="line">
              <a:avLst/>
            </a:prstGeom>
            <a:ln w="25400" cap="flat">
              <a:solidFill>
                <a:srgbClr val="2F81F7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12670971" y="0"/>
              <a:ext cx="2939143" cy="939800"/>
              <a:chOff x="0" y="0"/>
              <a:chExt cx="2939143" cy="9398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2939143" cy="939800"/>
              </a:xfrm>
              <a:custGeom>
                <a:avLst/>
                <a:gdLst/>
                <a:ahLst/>
                <a:cxnLst/>
                <a:rect l="l" t="t" r="r" b="b"/>
                <a:pathLst>
                  <a:path w="2939143" h="939800">
                    <a:moveTo>
                      <a:pt x="43901" y="0"/>
                    </a:moveTo>
                    <a:lnTo>
                      <a:pt x="2895242" y="0"/>
                    </a:lnTo>
                    <a:cubicBezTo>
                      <a:pt x="2906885" y="0"/>
                      <a:pt x="2918052" y="4625"/>
                      <a:pt x="2926285" y="12858"/>
                    </a:cubicBezTo>
                    <a:cubicBezTo>
                      <a:pt x="2934518" y="21091"/>
                      <a:pt x="2939143" y="32258"/>
                      <a:pt x="2939143" y="43901"/>
                    </a:cubicBezTo>
                    <a:lnTo>
                      <a:pt x="2939143" y="895899"/>
                    </a:lnTo>
                    <a:cubicBezTo>
                      <a:pt x="2939143" y="907542"/>
                      <a:pt x="2934518" y="918709"/>
                      <a:pt x="2926285" y="926942"/>
                    </a:cubicBezTo>
                    <a:cubicBezTo>
                      <a:pt x="2918052" y="935175"/>
                      <a:pt x="2906885" y="939800"/>
                      <a:pt x="2895242" y="939800"/>
                    </a:cubicBezTo>
                    <a:lnTo>
                      <a:pt x="43901" y="939800"/>
                    </a:lnTo>
                    <a:cubicBezTo>
                      <a:pt x="32258" y="939800"/>
                      <a:pt x="21091" y="935175"/>
                      <a:pt x="12858" y="926942"/>
                    </a:cubicBezTo>
                    <a:cubicBezTo>
                      <a:pt x="4625" y="918709"/>
                      <a:pt x="0" y="907542"/>
                      <a:pt x="0" y="895899"/>
                    </a:cubicBezTo>
                    <a:lnTo>
                      <a:pt x="0" y="43901"/>
                    </a:lnTo>
                    <a:cubicBezTo>
                      <a:pt x="0" y="32258"/>
                      <a:pt x="4625" y="21091"/>
                      <a:pt x="12858" y="12858"/>
                    </a:cubicBezTo>
                    <a:cubicBezTo>
                      <a:pt x="21091" y="4625"/>
                      <a:pt x="32258" y="0"/>
                      <a:pt x="43901" y="0"/>
                    </a:cubicBezTo>
                    <a:close/>
                  </a:path>
                </a:pathLst>
              </a:custGeom>
              <a:solidFill>
                <a:srgbClr val="161B22"/>
              </a:solidFill>
              <a:ln w="9525" cap="sq">
                <a:solidFill>
                  <a:srgbClr val="30363D"/>
                </a:solidFill>
                <a:prstDash val="solid"/>
                <a:miter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0" y="-28575"/>
                <a:ext cx="2939143" cy="9683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95"/>
                  </a:lnSpc>
                </a:pPr>
                <a:r>
                  <a:rPr lang="en-US" sz="1425" b="1">
                    <a:solidFill>
                      <a:srgbClr val="F0F6FC"/>
                    </a:solidFill>
                    <a:latin typeface="IBM Plex Mono Bold"/>
                    <a:ea typeface="IBM Plex Mono Bold"/>
                    <a:cs typeface="IBM Plex Mono Bold"/>
                    <a:sym typeface="IBM Plex Mono Bold"/>
                  </a:rPr>
                  <a:t>IMPLEMENTATION</a:t>
                </a:r>
              </a:p>
            </p:txBody>
          </p:sp>
        </p:grpSp>
        <p:sp>
          <p:nvSpPr>
            <p:cNvPr id="26" name="AutoShape 26"/>
            <p:cNvSpPr/>
            <p:nvPr/>
          </p:nvSpPr>
          <p:spPr>
            <a:xfrm>
              <a:off x="15610114" y="469900"/>
              <a:ext cx="228600" cy="0"/>
            </a:xfrm>
            <a:prstGeom prst="line">
              <a:avLst/>
            </a:prstGeom>
            <a:ln w="25400" cap="flat">
              <a:solidFill>
                <a:srgbClr val="2F81F7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15838714" y="0"/>
              <a:ext cx="2939143" cy="939800"/>
              <a:chOff x="0" y="0"/>
              <a:chExt cx="2939143" cy="9398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2939143" cy="939800"/>
              </a:xfrm>
              <a:custGeom>
                <a:avLst/>
                <a:gdLst/>
                <a:ahLst/>
                <a:cxnLst/>
                <a:rect l="l" t="t" r="r" b="b"/>
                <a:pathLst>
                  <a:path w="2939143" h="939800">
                    <a:moveTo>
                      <a:pt x="43901" y="0"/>
                    </a:moveTo>
                    <a:lnTo>
                      <a:pt x="2895242" y="0"/>
                    </a:lnTo>
                    <a:cubicBezTo>
                      <a:pt x="2906885" y="0"/>
                      <a:pt x="2918052" y="4625"/>
                      <a:pt x="2926285" y="12858"/>
                    </a:cubicBezTo>
                    <a:cubicBezTo>
                      <a:pt x="2934518" y="21091"/>
                      <a:pt x="2939143" y="32258"/>
                      <a:pt x="2939143" y="43901"/>
                    </a:cubicBezTo>
                    <a:lnTo>
                      <a:pt x="2939143" y="895899"/>
                    </a:lnTo>
                    <a:cubicBezTo>
                      <a:pt x="2939143" y="907542"/>
                      <a:pt x="2934518" y="918709"/>
                      <a:pt x="2926285" y="926942"/>
                    </a:cubicBezTo>
                    <a:cubicBezTo>
                      <a:pt x="2918052" y="935175"/>
                      <a:pt x="2906885" y="939800"/>
                      <a:pt x="2895242" y="939800"/>
                    </a:cubicBezTo>
                    <a:lnTo>
                      <a:pt x="43901" y="939800"/>
                    </a:lnTo>
                    <a:cubicBezTo>
                      <a:pt x="32258" y="939800"/>
                      <a:pt x="21091" y="935175"/>
                      <a:pt x="12858" y="926942"/>
                    </a:cubicBezTo>
                    <a:cubicBezTo>
                      <a:pt x="4625" y="918709"/>
                      <a:pt x="0" y="907542"/>
                      <a:pt x="0" y="895899"/>
                    </a:cubicBezTo>
                    <a:lnTo>
                      <a:pt x="0" y="43901"/>
                    </a:lnTo>
                    <a:cubicBezTo>
                      <a:pt x="0" y="32258"/>
                      <a:pt x="4625" y="21091"/>
                      <a:pt x="12858" y="12858"/>
                    </a:cubicBezTo>
                    <a:cubicBezTo>
                      <a:pt x="21091" y="4625"/>
                      <a:pt x="32258" y="0"/>
                      <a:pt x="43901" y="0"/>
                    </a:cubicBezTo>
                    <a:close/>
                  </a:path>
                </a:pathLst>
              </a:custGeom>
              <a:solidFill>
                <a:srgbClr val="161B22"/>
              </a:solidFill>
              <a:ln w="9525" cap="sq">
                <a:solidFill>
                  <a:srgbClr val="30363D"/>
                </a:solidFill>
                <a:prstDash val="solid"/>
                <a:miter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0" y="-28575"/>
                <a:ext cx="2939143" cy="9683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95"/>
                  </a:lnSpc>
                </a:pPr>
                <a:r>
                  <a:rPr lang="en-US" sz="1425" b="1">
                    <a:solidFill>
                      <a:srgbClr val="F0F6FC"/>
                    </a:solidFill>
                    <a:latin typeface="IBM Plex Mono Bold"/>
                    <a:ea typeface="IBM Plex Mono Bold"/>
                    <a:cs typeface="IBM Plex Mono Bold"/>
                    <a:sym typeface="IBM Plex Mono Bold"/>
                  </a:rPr>
                  <a:t>REGRESSION</a:t>
                </a:r>
              </a:p>
            </p:txBody>
          </p:sp>
        </p:grpSp>
        <p:sp>
          <p:nvSpPr>
            <p:cNvPr id="30" name="AutoShape 30"/>
            <p:cNvSpPr/>
            <p:nvPr/>
          </p:nvSpPr>
          <p:spPr>
            <a:xfrm>
              <a:off x="18777857" y="469900"/>
              <a:ext cx="228600" cy="0"/>
            </a:xfrm>
            <a:prstGeom prst="line">
              <a:avLst/>
            </a:prstGeom>
            <a:ln w="25400" cap="flat">
              <a:solidFill>
                <a:srgbClr val="2F81F7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19006457" y="0"/>
              <a:ext cx="2939143" cy="939800"/>
              <a:chOff x="0" y="0"/>
              <a:chExt cx="2939143" cy="9398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2939143" cy="939800"/>
              </a:xfrm>
              <a:custGeom>
                <a:avLst/>
                <a:gdLst/>
                <a:ahLst/>
                <a:cxnLst/>
                <a:rect l="l" t="t" r="r" b="b"/>
                <a:pathLst>
                  <a:path w="2939143" h="939800">
                    <a:moveTo>
                      <a:pt x="43901" y="0"/>
                    </a:moveTo>
                    <a:lnTo>
                      <a:pt x="2895242" y="0"/>
                    </a:lnTo>
                    <a:cubicBezTo>
                      <a:pt x="2906885" y="0"/>
                      <a:pt x="2918052" y="4625"/>
                      <a:pt x="2926285" y="12858"/>
                    </a:cubicBezTo>
                    <a:cubicBezTo>
                      <a:pt x="2934518" y="21091"/>
                      <a:pt x="2939143" y="32258"/>
                      <a:pt x="2939143" y="43901"/>
                    </a:cubicBezTo>
                    <a:lnTo>
                      <a:pt x="2939143" y="895899"/>
                    </a:lnTo>
                    <a:cubicBezTo>
                      <a:pt x="2939143" y="907542"/>
                      <a:pt x="2934518" y="918709"/>
                      <a:pt x="2926285" y="926942"/>
                    </a:cubicBezTo>
                    <a:cubicBezTo>
                      <a:pt x="2918052" y="935175"/>
                      <a:pt x="2906885" y="939800"/>
                      <a:pt x="2895242" y="939800"/>
                    </a:cubicBezTo>
                    <a:lnTo>
                      <a:pt x="43901" y="939800"/>
                    </a:lnTo>
                    <a:cubicBezTo>
                      <a:pt x="32258" y="939800"/>
                      <a:pt x="21091" y="935175"/>
                      <a:pt x="12858" y="926942"/>
                    </a:cubicBezTo>
                    <a:cubicBezTo>
                      <a:pt x="4625" y="918709"/>
                      <a:pt x="0" y="907542"/>
                      <a:pt x="0" y="895899"/>
                    </a:cubicBezTo>
                    <a:lnTo>
                      <a:pt x="0" y="43901"/>
                    </a:lnTo>
                    <a:cubicBezTo>
                      <a:pt x="0" y="32258"/>
                      <a:pt x="4625" y="21091"/>
                      <a:pt x="12858" y="12858"/>
                    </a:cubicBezTo>
                    <a:cubicBezTo>
                      <a:pt x="21091" y="4625"/>
                      <a:pt x="32258" y="0"/>
                      <a:pt x="43901" y="0"/>
                    </a:cubicBezTo>
                    <a:close/>
                  </a:path>
                </a:pathLst>
              </a:custGeom>
              <a:solidFill>
                <a:srgbClr val="21262D"/>
              </a:solidFill>
              <a:ln w="9525" cap="sq">
                <a:solidFill>
                  <a:srgbClr val="30363D"/>
                </a:solidFill>
                <a:prstDash val="solid"/>
                <a:miter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0" y="-28575"/>
                <a:ext cx="2939143" cy="9683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95"/>
                  </a:lnSpc>
                </a:pPr>
                <a:r>
                  <a:rPr lang="en-US" sz="1425" b="1">
                    <a:solidFill>
                      <a:srgbClr val="F0F6FC"/>
                    </a:solidFill>
                    <a:latin typeface="IBM Plex Mono Bold"/>
                    <a:ea typeface="IBM Plex Mono Bold"/>
                    <a:cs typeface="IBM Plex Mono Bold"/>
                    <a:sym typeface="IBM Plex Mono Bold"/>
                  </a:rPr>
                  <a:t>VERIFY</a:t>
                </a:r>
              </a:p>
            </p:txBody>
          </p:sp>
        </p:grpSp>
      </p:grpSp>
      <p:grpSp>
        <p:nvGrpSpPr>
          <p:cNvPr id="34" name="Group 34"/>
          <p:cNvGrpSpPr/>
          <p:nvPr/>
        </p:nvGrpSpPr>
        <p:grpSpPr>
          <a:xfrm>
            <a:off x="914400" y="4286250"/>
            <a:ext cx="3095625" cy="1619250"/>
            <a:chOff x="0" y="0"/>
            <a:chExt cx="4127500" cy="2159000"/>
          </a:xfrm>
        </p:grpSpPr>
        <p:grpSp>
          <p:nvGrpSpPr>
            <p:cNvPr id="35" name="Group 35"/>
            <p:cNvGrpSpPr/>
            <p:nvPr/>
          </p:nvGrpSpPr>
          <p:grpSpPr>
            <a:xfrm>
              <a:off x="0" y="0"/>
              <a:ext cx="4127500" cy="2159000"/>
              <a:chOff x="0" y="0"/>
              <a:chExt cx="4127500" cy="21590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4127500" cy="2159000"/>
              </a:xfrm>
              <a:custGeom>
                <a:avLst/>
                <a:gdLst/>
                <a:ahLst/>
                <a:cxnLst/>
                <a:rect l="l" t="t" r="r" b="b"/>
                <a:pathLst>
                  <a:path w="4127500" h="2159000">
                    <a:moveTo>
                      <a:pt x="0" y="0"/>
                    </a:moveTo>
                    <a:lnTo>
                      <a:pt x="4127500" y="0"/>
                    </a:lnTo>
                    <a:lnTo>
                      <a:pt x="4127500" y="2159000"/>
                    </a:lnTo>
                    <a:lnTo>
                      <a:pt x="0" y="2159000"/>
                    </a:lnTo>
                    <a:close/>
                  </a:path>
                </a:pathLst>
              </a:custGeom>
              <a:solidFill>
                <a:srgbClr val="161B22"/>
              </a:solidFill>
              <a:ln w="9525" cap="sq">
                <a:solidFill>
                  <a:srgbClr val="30363D"/>
                </a:solidFill>
                <a:prstDash val="solid"/>
                <a:miter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0" y="-38100"/>
                <a:ext cx="4127500" cy="2197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8" name="TextBox 38"/>
            <p:cNvSpPr txBox="1"/>
            <p:nvPr/>
          </p:nvSpPr>
          <p:spPr>
            <a:xfrm>
              <a:off x="177800" y="469900"/>
              <a:ext cx="3873500" cy="6083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en-US" sz="1275">
                  <a:solidFill>
                    <a:srgbClr val="F0F6F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BOB SESSION 01</a:t>
              </a:r>
            </a:p>
            <a:p>
              <a:pPr algn="l">
                <a:lnSpc>
                  <a:spcPts val="1912"/>
                </a:lnSpc>
              </a:pPr>
              <a:r>
                <a:rPr lang="en-US" sz="1275">
                  <a:solidFill>
                    <a:srgbClr val="F0F6F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01_progress_investigation.png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4200525" y="4286250"/>
            <a:ext cx="3095625" cy="1619250"/>
            <a:chOff x="0" y="0"/>
            <a:chExt cx="4127500" cy="2159000"/>
          </a:xfrm>
        </p:grpSpPr>
        <p:grpSp>
          <p:nvGrpSpPr>
            <p:cNvPr id="40" name="Group 40"/>
            <p:cNvGrpSpPr/>
            <p:nvPr/>
          </p:nvGrpSpPr>
          <p:grpSpPr>
            <a:xfrm>
              <a:off x="0" y="0"/>
              <a:ext cx="4127500" cy="2159000"/>
              <a:chOff x="0" y="0"/>
              <a:chExt cx="4127500" cy="215900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4127500" cy="2159000"/>
              </a:xfrm>
              <a:custGeom>
                <a:avLst/>
                <a:gdLst/>
                <a:ahLst/>
                <a:cxnLst/>
                <a:rect l="l" t="t" r="r" b="b"/>
                <a:pathLst>
                  <a:path w="4127500" h="2159000">
                    <a:moveTo>
                      <a:pt x="0" y="0"/>
                    </a:moveTo>
                    <a:lnTo>
                      <a:pt x="4127500" y="0"/>
                    </a:lnTo>
                    <a:lnTo>
                      <a:pt x="4127500" y="2159000"/>
                    </a:lnTo>
                    <a:lnTo>
                      <a:pt x="0" y="2159000"/>
                    </a:lnTo>
                    <a:close/>
                  </a:path>
                </a:pathLst>
              </a:custGeom>
              <a:solidFill>
                <a:srgbClr val="161B22"/>
              </a:solidFill>
              <a:ln w="9525" cap="sq">
                <a:solidFill>
                  <a:srgbClr val="30363D"/>
                </a:solidFill>
                <a:prstDash val="solid"/>
                <a:miter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0" y="-38100"/>
                <a:ext cx="4127500" cy="2197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43" name="TextBox 43"/>
            <p:cNvSpPr txBox="1"/>
            <p:nvPr/>
          </p:nvSpPr>
          <p:spPr>
            <a:xfrm>
              <a:off x="177800" y="479425"/>
              <a:ext cx="3873500" cy="5302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87"/>
                </a:lnSpc>
              </a:pPr>
              <a:r>
                <a:rPr lang="en-US" sz="1125">
                  <a:solidFill>
                    <a:srgbClr val="F0F6F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BOB SESSION 02</a:t>
              </a:r>
            </a:p>
            <a:p>
              <a:pPr algn="l">
                <a:lnSpc>
                  <a:spcPts val="1687"/>
                </a:lnSpc>
              </a:pPr>
              <a:r>
                <a:rPr lang="en-US" sz="1125">
                  <a:solidFill>
                    <a:srgbClr val="F0F6F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02_progress_fix_verification.png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7486650" y="4286250"/>
            <a:ext cx="3095625" cy="1619250"/>
            <a:chOff x="0" y="0"/>
            <a:chExt cx="4127500" cy="2159000"/>
          </a:xfrm>
        </p:grpSpPr>
        <p:grpSp>
          <p:nvGrpSpPr>
            <p:cNvPr id="45" name="Group 45"/>
            <p:cNvGrpSpPr/>
            <p:nvPr/>
          </p:nvGrpSpPr>
          <p:grpSpPr>
            <a:xfrm>
              <a:off x="0" y="0"/>
              <a:ext cx="4127500" cy="2159000"/>
              <a:chOff x="0" y="0"/>
              <a:chExt cx="4127500" cy="215900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4127500" cy="2159000"/>
              </a:xfrm>
              <a:custGeom>
                <a:avLst/>
                <a:gdLst/>
                <a:ahLst/>
                <a:cxnLst/>
                <a:rect l="l" t="t" r="r" b="b"/>
                <a:pathLst>
                  <a:path w="4127500" h="2159000">
                    <a:moveTo>
                      <a:pt x="0" y="0"/>
                    </a:moveTo>
                    <a:lnTo>
                      <a:pt x="4127500" y="0"/>
                    </a:lnTo>
                    <a:lnTo>
                      <a:pt x="4127500" y="2159000"/>
                    </a:lnTo>
                    <a:lnTo>
                      <a:pt x="0" y="2159000"/>
                    </a:lnTo>
                    <a:close/>
                  </a:path>
                </a:pathLst>
              </a:custGeom>
              <a:solidFill>
                <a:srgbClr val="161B22"/>
              </a:solidFill>
              <a:ln w="9525" cap="sq">
                <a:solidFill>
                  <a:srgbClr val="30363D"/>
                </a:solidFill>
                <a:prstDash val="solid"/>
                <a:miter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0" y="-38100"/>
                <a:ext cx="4127500" cy="2197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48" name="TextBox 48"/>
            <p:cNvSpPr txBox="1"/>
            <p:nvPr/>
          </p:nvSpPr>
          <p:spPr>
            <a:xfrm>
              <a:off x="177800" y="460375"/>
              <a:ext cx="3873500" cy="6648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350">
                  <a:solidFill>
                    <a:srgbClr val="F0F6F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BOB SESSION 03</a:t>
              </a:r>
            </a:p>
            <a:p>
              <a:pPr algn="l">
                <a:lnSpc>
                  <a:spcPts val="2025"/>
                </a:lnSpc>
              </a:pPr>
              <a:r>
                <a:rPr lang="en-US" sz="1350">
                  <a:solidFill>
                    <a:srgbClr val="F0F6F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03_status_investigation.png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0772775" y="4286250"/>
            <a:ext cx="3095625" cy="1619250"/>
            <a:chOff x="0" y="0"/>
            <a:chExt cx="4127500" cy="2159000"/>
          </a:xfrm>
        </p:grpSpPr>
        <p:grpSp>
          <p:nvGrpSpPr>
            <p:cNvPr id="50" name="Group 50"/>
            <p:cNvGrpSpPr/>
            <p:nvPr/>
          </p:nvGrpSpPr>
          <p:grpSpPr>
            <a:xfrm>
              <a:off x="0" y="0"/>
              <a:ext cx="4127500" cy="2159000"/>
              <a:chOff x="0" y="0"/>
              <a:chExt cx="4127500" cy="2159000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0" y="0"/>
                <a:ext cx="4127500" cy="2159000"/>
              </a:xfrm>
              <a:custGeom>
                <a:avLst/>
                <a:gdLst/>
                <a:ahLst/>
                <a:cxnLst/>
                <a:rect l="l" t="t" r="r" b="b"/>
                <a:pathLst>
                  <a:path w="4127500" h="2159000">
                    <a:moveTo>
                      <a:pt x="0" y="0"/>
                    </a:moveTo>
                    <a:lnTo>
                      <a:pt x="4127500" y="0"/>
                    </a:lnTo>
                    <a:lnTo>
                      <a:pt x="4127500" y="2159000"/>
                    </a:lnTo>
                    <a:lnTo>
                      <a:pt x="0" y="2159000"/>
                    </a:lnTo>
                    <a:close/>
                  </a:path>
                </a:pathLst>
              </a:custGeom>
              <a:solidFill>
                <a:srgbClr val="161B22"/>
              </a:solidFill>
              <a:ln w="9525" cap="sq">
                <a:solidFill>
                  <a:srgbClr val="30363D"/>
                </a:solidFill>
                <a:prstDash val="solid"/>
                <a:miter/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0" y="-38100"/>
                <a:ext cx="4127500" cy="2197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53" name="TextBox 53"/>
            <p:cNvSpPr txBox="1"/>
            <p:nvPr/>
          </p:nvSpPr>
          <p:spPr>
            <a:xfrm>
              <a:off x="177800" y="469900"/>
              <a:ext cx="3873500" cy="6083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en-US" sz="1275">
                  <a:solidFill>
                    <a:srgbClr val="F0F6F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BOB SESSION 04</a:t>
              </a:r>
            </a:p>
            <a:p>
              <a:pPr algn="l">
                <a:lnSpc>
                  <a:spcPts val="1912"/>
                </a:lnSpc>
              </a:pPr>
              <a:r>
                <a:rPr lang="en-US" sz="1275">
                  <a:solidFill>
                    <a:srgbClr val="F0F6F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03_assignee_investigation.png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4058900" y="4286250"/>
            <a:ext cx="3095625" cy="1619250"/>
            <a:chOff x="0" y="0"/>
            <a:chExt cx="4127500" cy="2159000"/>
          </a:xfrm>
        </p:grpSpPr>
        <p:grpSp>
          <p:nvGrpSpPr>
            <p:cNvPr id="55" name="Group 55"/>
            <p:cNvGrpSpPr/>
            <p:nvPr/>
          </p:nvGrpSpPr>
          <p:grpSpPr>
            <a:xfrm>
              <a:off x="0" y="0"/>
              <a:ext cx="4127500" cy="2159000"/>
              <a:chOff x="0" y="0"/>
              <a:chExt cx="4127500" cy="2159000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0" y="0"/>
                <a:ext cx="4127500" cy="2159000"/>
              </a:xfrm>
              <a:custGeom>
                <a:avLst/>
                <a:gdLst/>
                <a:ahLst/>
                <a:cxnLst/>
                <a:rect l="l" t="t" r="r" b="b"/>
                <a:pathLst>
                  <a:path w="4127500" h="2159000">
                    <a:moveTo>
                      <a:pt x="0" y="0"/>
                    </a:moveTo>
                    <a:lnTo>
                      <a:pt x="4127500" y="0"/>
                    </a:lnTo>
                    <a:lnTo>
                      <a:pt x="4127500" y="2159000"/>
                    </a:lnTo>
                    <a:lnTo>
                      <a:pt x="0" y="2159000"/>
                    </a:lnTo>
                    <a:close/>
                  </a:path>
                </a:pathLst>
              </a:custGeom>
              <a:solidFill>
                <a:srgbClr val="161B22"/>
              </a:solidFill>
              <a:ln w="9525" cap="sq">
                <a:solidFill>
                  <a:srgbClr val="30363D"/>
                </a:solidFill>
                <a:prstDash val="solid"/>
                <a:miter/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0" y="-38100"/>
                <a:ext cx="4127500" cy="2197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58" name="TextBox 58"/>
            <p:cNvSpPr txBox="1"/>
            <p:nvPr/>
          </p:nvSpPr>
          <p:spPr>
            <a:xfrm>
              <a:off x="177800" y="460375"/>
              <a:ext cx="3873500" cy="6648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350">
                  <a:solidFill>
                    <a:srgbClr val="3FB950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BOB SESSION 05</a:t>
              </a:r>
            </a:p>
            <a:p>
              <a:pPr algn="l">
                <a:lnSpc>
                  <a:spcPts val="2025"/>
                </a:lnSpc>
              </a:pPr>
              <a:r>
                <a:rPr lang="en-US" sz="1350">
                  <a:solidFill>
                    <a:srgbClr val="3FB950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04_regression_tests.png</a:t>
              </a:r>
            </a:p>
          </p:txBody>
        </p:sp>
      </p:grpSp>
      <p:sp>
        <p:nvSpPr>
          <p:cNvPr id="59" name="TextBox 59"/>
          <p:cNvSpPr txBox="1"/>
          <p:nvPr/>
        </p:nvSpPr>
        <p:spPr>
          <a:xfrm>
            <a:off x="914400" y="6619875"/>
            <a:ext cx="8572500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F0F6FC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Bob was used during development—not embedded inside Streamlit.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914400" y="7296150"/>
            <a:ext cx="14287500" cy="685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8B949E"/>
                </a:solidFill>
                <a:latin typeface="IBM Plex Sans"/>
                <a:ea typeface="IBM Plex Sans"/>
                <a:cs typeface="IBM Plex Sans"/>
                <a:sym typeface="IBM Plex Sans"/>
              </a:rPr>
              <a:t>IBM Bob 2.0 investigated repository behavior, traced root causes, implemented fixes, reviewed regression scenarios and validated the resulting test suite.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23875"/>
            <a:ext cx="8572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08">
                <a:solidFill>
                  <a:srgbClr val="2F81F7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SYSTEM ARCHITECTURE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1028700"/>
            <a:ext cx="14763750" cy="653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 b="1">
                <a:solidFill>
                  <a:srgbClr val="F0F6FC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From Developer Report to Verified Change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573500" y="581025"/>
            <a:ext cx="85725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b="1" spc="108">
                <a:solidFill>
                  <a:srgbClr val="2F81F7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05</a:t>
            </a:r>
          </a:p>
        </p:txBody>
      </p:sp>
      <p:sp>
        <p:nvSpPr>
          <p:cNvPr id="5" name="AutoShape 5"/>
          <p:cNvSpPr/>
          <p:nvPr/>
        </p:nvSpPr>
        <p:spPr>
          <a:xfrm>
            <a:off x="914400" y="1866900"/>
            <a:ext cx="16459200" cy="0"/>
          </a:xfrm>
          <a:prstGeom prst="line">
            <a:avLst/>
          </a:prstGeom>
          <a:ln w="9525" cap="flat">
            <a:solidFill>
              <a:srgbClr val="30363D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>
            <a:off x="2381250" y="2238375"/>
            <a:ext cx="13525500" cy="6438900"/>
            <a:chOff x="0" y="0"/>
            <a:chExt cx="18034000" cy="8585200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18034000" cy="965200"/>
              <a:chOff x="0" y="0"/>
              <a:chExt cx="18034000" cy="9652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8034000" cy="965200"/>
              </a:xfrm>
              <a:custGeom>
                <a:avLst/>
                <a:gdLst/>
                <a:ahLst/>
                <a:cxnLst/>
                <a:rect l="l" t="t" r="r" b="b"/>
                <a:pathLst>
                  <a:path w="18034000" h="965200">
                    <a:moveTo>
                      <a:pt x="7155" y="0"/>
                    </a:moveTo>
                    <a:lnTo>
                      <a:pt x="18026845" y="0"/>
                    </a:lnTo>
                    <a:cubicBezTo>
                      <a:pt x="18028743" y="0"/>
                      <a:pt x="18030563" y="754"/>
                      <a:pt x="18031904" y="2096"/>
                    </a:cubicBezTo>
                    <a:cubicBezTo>
                      <a:pt x="18033247" y="3437"/>
                      <a:pt x="18034000" y="5257"/>
                      <a:pt x="18034000" y="7155"/>
                    </a:cubicBezTo>
                    <a:lnTo>
                      <a:pt x="18034000" y="958045"/>
                    </a:lnTo>
                    <a:cubicBezTo>
                      <a:pt x="18034000" y="959943"/>
                      <a:pt x="18033247" y="961763"/>
                      <a:pt x="18031904" y="963104"/>
                    </a:cubicBezTo>
                    <a:cubicBezTo>
                      <a:pt x="18030563" y="964446"/>
                      <a:pt x="18028743" y="965200"/>
                      <a:pt x="18026845" y="965200"/>
                    </a:cubicBezTo>
                    <a:lnTo>
                      <a:pt x="7155" y="965200"/>
                    </a:lnTo>
                    <a:cubicBezTo>
                      <a:pt x="5257" y="965200"/>
                      <a:pt x="3437" y="964446"/>
                      <a:pt x="2096" y="963104"/>
                    </a:cubicBezTo>
                    <a:cubicBezTo>
                      <a:pt x="754" y="961763"/>
                      <a:pt x="0" y="959943"/>
                      <a:pt x="0" y="958045"/>
                    </a:cubicBezTo>
                    <a:lnTo>
                      <a:pt x="0" y="7155"/>
                    </a:lnTo>
                    <a:cubicBezTo>
                      <a:pt x="0" y="5257"/>
                      <a:pt x="754" y="3437"/>
                      <a:pt x="2096" y="2096"/>
                    </a:cubicBezTo>
                    <a:cubicBezTo>
                      <a:pt x="3437" y="754"/>
                      <a:pt x="5257" y="0"/>
                      <a:pt x="7155" y="0"/>
                    </a:cubicBezTo>
                    <a:close/>
                  </a:path>
                </a:pathLst>
              </a:custGeom>
              <a:solidFill>
                <a:srgbClr val="161B22"/>
              </a:solidFill>
              <a:ln w="9525" cap="sq">
                <a:solidFill>
                  <a:srgbClr val="30363D"/>
                </a:solidFill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28575"/>
                <a:ext cx="18034000" cy="9937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95"/>
                  </a:lnSpc>
                </a:pPr>
                <a:r>
                  <a:rPr lang="en-US" sz="1425" b="1">
                    <a:solidFill>
                      <a:srgbClr val="F0F6FC"/>
                    </a:solidFill>
                    <a:latin typeface="IBM Plex Mono Bold"/>
                    <a:ea typeface="IBM Plex Mono Bold"/>
                    <a:cs typeface="IBM Plex Mono Bold"/>
                    <a:sym typeface="IBM Plex Mono Bold"/>
                  </a:rPr>
                  <a:t>DEVELOPER BUG REPORT</a:t>
                </a:r>
              </a:p>
            </p:txBody>
          </p:sp>
        </p:grpSp>
        <p:sp>
          <p:nvSpPr>
            <p:cNvPr id="10" name="AutoShape 10"/>
            <p:cNvSpPr/>
            <p:nvPr/>
          </p:nvSpPr>
          <p:spPr>
            <a:xfrm>
              <a:off x="9017000" y="965200"/>
              <a:ext cx="0" cy="304800"/>
            </a:xfrm>
            <a:prstGeom prst="line">
              <a:avLst/>
            </a:prstGeom>
            <a:ln w="25400" cap="flat">
              <a:solidFill>
                <a:srgbClr val="2F81F7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0" y="1270000"/>
              <a:ext cx="18034000" cy="965200"/>
              <a:chOff x="0" y="0"/>
              <a:chExt cx="18034000" cy="9652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8034000" cy="965200"/>
              </a:xfrm>
              <a:custGeom>
                <a:avLst/>
                <a:gdLst/>
                <a:ahLst/>
                <a:cxnLst/>
                <a:rect l="l" t="t" r="r" b="b"/>
                <a:pathLst>
                  <a:path w="18034000" h="965200">
                    <a:moveTo>
                      <a:pt x="7155" y="0"/>
                    </a:moveTo>
                    <a:lnTo>
                      <a:pt x="18026845" y="0"/>
                    </a:lnTo>
                    <a:cubicBezTo>
                      <a:pt x="18028743" y="0"/>
                      <a:pt x="18030563" y="754"/>
                      <a:pt x="18031904" y="2096"/>
                    </a:cubicBezTo>
                    <a:cubicBezTo>
                      <a:pt x="18033247" y="3437"/>
                      <a:pt x="18034000" y="5257"/>
                      <a:pt x="18034000" y="7155"/>
                    </a:cubicBezTo>
                    <a:lnTo>
                      <a:pt x="18034000" y="958045"/>
                    </a:lnTo>
                    <a:cubicBezTo>
                      <a:pt x="18034000" y="959943"/>
                      <a:pt x="18033247" y="961763"/>
                      <a:pt x="18031904" y="963104"/>
                    </a:cubicBezTo>
                    <a:cubicBezTo>
                      <a:pt x="18030563" y="964446"/>
                      <a:pt x="18028743" y="965200"/>
                      <a:pt x="18026845" y="965200"/>
                    </a:cubicBezTo>
                    <a:lnTo>
                      <a:pt x="7155" y="965200"/>
                    </a:lnTo>
                    <a:cubicBezTo>
                      <a:pt x="5257" y="965200"/>
                      <a:pt x="3437" y="964446"/>
                      <a:pt x="2096" y="963104"/>
                    </a:cubicBezTo>
                    <a:cubicBezTo>
                      <a:pt x="754" y="961763"/>
                      <a:pt x="0" y="959943"/>
                      <a:pt x="0" y="958045"/>
                    </a:cubicBezTo>
                    <a:lnTo>
                      <a:pt x="0" y="7155"/>
                    </a:lnTo>
                    <a:cubicBezTo>
                      <a:pt x="0" y="5257"/>
                      <a:pt x="754" y="3437"/>
                      <a:pt x="2096" y="2096"/>
                    </a:cubicBezTo>
                    <a:cubicBezTo>
                      <a:pt x="3437" y="754"/>
                      <a:pt x="5257" y="0"/>
                      <a:pt x="7155" y="0"/>
                    </a:cubicBezTo>
                    <a:close/>
                  </a:path>
                </a:pathLst>
              </a:custGeom>
              <a:solidFill>
                <a:srgbClr val="161B22"/>
              </a:solidFill>
              <a:ln w="9525" cap="sq">
                <a:solidFill>
                  <a:srgbClr val="30363D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28575"/>
                <a:ext cx="18034000" cy="9937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95"/>
                  </a:lnSpc>
                </a:pPr>
                <a:r>
                  <a:rPr lang="en-US" sz="1425" b="1">
                    <a:solidFill>
                      <a:srgbClr val="F0F6FC"/>
                    </a:solidFill>
                    <a:latin typeface="IBM Plex Mono Bold"/>
                    <a:ea typeface="IBM Plex Mono Bold"/>
                    <a:cs typeface="IBM Plex Mono Bold"/>
                    <a:sym typeface="IBM Plex Mono Bold"/>
                  </a:rPr>
                  <a:t>DATASET · data/bug_reports.json</a:t>
                </a:r>
              </a:p>
            </p:txBody>
          </p:sp>
        </p:grpSp>
        <p:sp>
          <p:nvSpPr>
            <p:cNvPr id="14" name="AutoShape 14"/>
            <p:cNvSpPr/>
            <p:nvPr/>
          </p:nvSpPr>
          <p:spPr>
            <a:xfrm>
              <a:off x="9017000" y="2235200"/>
              <a:ext cx="0" cy="304800"/>
            </a:xfrm>
            <a:prstGeom prst="line">
              <a:avLst/>
            </a:prstGeom>
            <a:ln w="25400" cap="flat">
              <a:solidFill>
                <a:srgbClr val="2F81F7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0" y="2540000"/>
              <a:ext cx="18034000" cy="965200"/>
              <a:chOff x="0" y="0"/>
              <a:chExt cx="18034000" cy="9652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8034000" cy="965200"/>
              </a:xfrm>
              <a:custGeom>
                <a:avLst/>
                <a:gdLst/>
                <a:ahLst/>
                <a:cxnLst/>
                <a:rect l="l" t="t" r="r" b="b"/>
                <a:pathLst>
                  <a:path w="18034000" h="965200">
                    <a:moveTo>
                      <a:pt x="7155" y="0"/>
                    </a:moveTo>
                    <a:lnTo>
                      <a:pt x="18026845" y="0"/>
                    </a:lnTo>
                    <a:cubicBezTo>
                      <a:pt x="18028743" y="0"/>
                      <a:pt x="18030563" y="754"/>
                      <a:pt x="18031904" y="2096"/>
                    </a:cubicBezTo>
                    <a:cubicBezTo>
                      <a:pt x="18033247" y="3437"/>
                      <a:pt x="18034000" y="5257"/>
                      <a:pt x="18034000" y="7155"/>
                    </a:cubicBezTo>
                    <a:lnTo>
                      <a:pt x="18034000" y="958045"/>
                    </a:lnTo>
                    <a:cubicBezTo>
                      <a:pt x="18034000" y="959943"/>
                      <a:pt x="18033247" y="961763"/>
                      <a:pt x="18031904" y="963104"/>
                    </a:cubicBezTo>
                    <a:cubicBezTo>
                      <a:pt x="18030563" y="964446"/>
                      <a:pt x="18028743" y="965200"/>
                      <a:pt x="18026845" y="965200"/>
                    </a:cubicBezTo>
                    <a:lnTo>
                      <a:pt x="7155" y="965200"/>
                    </a:lnTo>
                    <a:cubicBezTo>
                      <a:pt x="5257" y="965200"/>
                      <a:pt x="3437" y="964446"/>
                      <a:pt x="2096" y="963104"/>
                    </a:cubicBezTo>
                    <a:cubicBezTo>
                      <a:pt x="754" y="961763"/>
                      <a:pt x="0" y="959943"/>
                      <a:pt x="0" y="958045"/>
                    </a:cubicBezTo>
                    <a:lnTo>
                      <a:pt x="0" y="7155"/>
                    </a:lnTo>
                    <a:cubicBezTo>
                      <a:pt x="0" y="5257"/>
                      <a:pt x="754" y="3437"/>
                      <a:pt x="2096" y="2096"/>
                    </a:cubicBezTo>
                    <a:cubicBezTo>
                      <a:pt x="3437" y="754"/>
                      <a:pt x="5257" y="0"/>
                      <a:pt x="7155" y="0"/>
                    </a:cubicBezTo>
                    <a:close/>
                  </a:path>
                </a:pathLst>
              </a:custGeom>
              <a:solidFill>
                <a:srgbClr val="161B22"/>
              </a:solidFill>
              <a:ln w="9525" cap="sq">
                <a:solidFill>
                  <a:srgbClr val="30363D"/>
                </a:solidFill>
                <a:prstDash val="solid"/>
                <a:miter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28575"/>
                <a:ext cx="18034000" cy="9937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95"/>
                  </a:lnSpc>
                </a:pPr>
                <a:r>
                  <a:rPr lang="en-US" sz="1425" b="1">
                    <a:solidFill>
                      <a:srgbClr val="F0F6FC"/>
                    </a:solidFill>
                    <a:latin typeface="IBM Plex Mono Bold"/>
                    <a:ea typeface="IBM Plex Mono Bold"/>
                    <a:cs typeface="IBM Plex Mono Bold"/>
                    <a:sym typeface="IBM Plex Mono Bold"/>
                  </a:rPr>
                  <a:t>CODEPILOT · Investigate / Fix / Test</a:t>
                </a:r>
              </a:p>
            </p:txBody>
          </p:sp>
        </p:grpSp>
        <p:sp>
          <p:nvSpPr>
            <p:cNvPr id="18" name="AutoShape 18"/>
            <p:cNvSpPr/>
            <p:nvPr/>
          </p:nvSpPr>
          <p:spPr>
            <a:xfrm>
              <a:off x="9017000" y="3505200"/>
              <a:ext cx="0" cy="304800"/>
            </a:xfrm>
            <a:prstGeom prst="line">
              <a:avLst/>
            </a:prstGeom>
            <a:ln w="25400" cap="flat">
              <a:solidFill>
                <a:srgbClr val="2F81F7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0" y="3810000"/>
              <a:ext cx="18034000" cy="965200"/>
              <a:chOff x="0" y="0"/>
              <a:chExt cx="18034000" cy="9652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8034000" cy="965200"/>
              </a:xfrm>
              <a:custGeom>
                <a:avLst/>
                <a:gdLst/>
                <a:ahLst/>
                <a:cxnLst/>
                <a:rect l="l" t="t" r="r" b="b"/>
                <a:pathLst>
                  <a:path w="18034000" h="965200">
                    <a:moveTo>
                      <a:pt x="7155" y="0"/>
                    </a:moveTo>
                    <a:lnTo>
                      <a:pt x="18026845" y="0"/>
                    </a:lnTo>
                    <a:cubicBezTo>
                      <a:pt x="18028743" y="0"/>
                      <a:pt x="18030563" y="754"/>
                      <a:pt x="18031904" y="2096"/>
                    </a:cubicBezTo>
                    <a:cubicBezTo>
                      <a:pt x="18033247" y="3437"/>
                      <a:pt x="18034000" y="5257"/>
                      <a:pt x="18034000" y="7155"/>
                    </a:cubicBezTo>
                    <a:lnTo>
                      <a:pt x="18034000" y="958045"/>
                    </a:lnTo>
                    <a:cubicBezTo>
                      <a:pt x="18034000" y="959943"/>
                      <a:pt x="18033247" y="961763"/>
                      <a:pt x="18031904" y="963104"/>
                    </a:cubicBezTo>
                    <a:cubicBezTo>
                      <a:pt x="18030563" y="964446"/>
                      <a:pt x="18028743" y="965200"/>
                      <a:pt x="18026845" y="965200"/>
                    </a:cubicBezTo>
                    <a:lnTo>
                      <a:pt x="7155" y="965200"/>
                    </a:lnTo>
                    <a:cubicBezTo>
                      <a:pt x="5257" y="965200"/>
                      <a:pt x="3437" y="964446"/>
                      <a:pt x="2096" y="963104"/>
                    </a:cubicBezTo>
                    <a:cubicBezTo>
                      <a:pt x="754" y="961763"/>
                      <a:pt x="0" y="959943"/>
                      <a:pt x="0" y="958045"/>
                    </a:cubicBezTo>
                    <a:lnTo>
                      <a:pt x="0" y="7155"/>
                    </a:lnTo>
                    <a:cubicBezTo>
                      <a:pt x="0" y="5257"/>
                      <a:pt x="754" y="3437"/>
                      <a:pt x="2096" y="2096"/>
                    </a:cubicBezTo>
                    <a:cubicBezTo>
                      <a:pt x="3437" y="754"/>
                      <a:pt x="5257" y="0"/>
                      <a:pt x="7155" y="0"/>
                    </a:cubicBezTo>
                    <a:close/>
                  </a:path>
                </a:pathLst>
              </a:custGeom>
              <a:solidFill>
                <a:srgbClr val="161B22"/>
              </a:solidFill>
              <a:ln w="9525" cap="sq">
                <a:solidFill>
                  <a:srgbClr val="30363D"/>
                </a:solidFill>
                <a:prstDash val="solid"/>
                <a:miter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28575"/>
                <a:ext cx="18034000" cy="9937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95"/>
                  </a:lnSpc>
                </a:pPr>
                <a:r>
                  <a:rPr lang="en-US" sz="1425" b="1">
                    <a:solidFill>
                      <a:srgbClr val="F0F6FC"/>
                    </a:solidFill>
                    <a:latin typeface="IBM Plex Mono Bold"/>
                    <a:ea typeface="IBM Plex Mono Bold"/>
                    <a:cs typeface="IBM Plex Mono Bold"/>
                    <a:sym typeface="IBM Plex Mono Bold"/>
                  </a:rPr>
                  <a:t>TASKFLOW API · FastAPI</a:t>
                </a:r>
              </a:p>
            </p:txBody>
          </p:sp>
        </p:grpSp>
        <p:sp>
          <p:nvSpPr>
            <p:cNvPr id="22" name="AutoShape 22"/>
            <p:cNvSpPr/>
            <p:nvPr/>
          </p:nvSpPr>
          <p:spPr>
            <a:xfrm>
              <a:off x="9017000" y="4775200"/>
              <a:ext cx="0" cy="304800"/>
            </a:xfrm>
            <a:prstGeom prst="line">
              <a:avLst/>
            </a:prstGeom>
            <a:ln w="25400" cap="flat">
              <a:solidFill>
                <a:srgbClr val="2F81F7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0" y="5080000"/>
              <a:ext cx="18034000" cy="965200"/>
              <a:chOff x="0" y="0"/>
              <a:chExt cx="18034000" cy="9652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18034000" cy="965200"/>
              </a:xfrm>
              <a:custGeom>
                <a:avLst/>
                <a:gdLst/>
                <a:ahLst/>
                <a:cxnLst/>
                <a:rect l="l" t="t" r="r" b="b"/>
                <a:pathLst>
                  <a:path w="18034000" h="965200">
                    <a:moveTo>
                      <a:pt x="7155" y="0"/>
                    </a:moveTo>
                    <a:lnTo>
                      <a:pt x="18026845" y="0"/>
                    </a:lnTo>
                    <a:cubicBezTo>
                      <a:pt x="18028743" y="0"/>
                      <a:pt x="18030563" y="754"/>
                      <a:pt x="18031904" y="2096"/>
                    </a:cubicBezTo>
                    <a:cubicBezTo>
                      <a:pt x="18033247" y="3437"/>
                      <a:pt x="18034000" y="5257"/>
                      <a:pt x="18034000" y="7155"/>
                    </a:cubicBezTo>
                    <a:lnTo>
                      <a:pt x="18034000" y="958045"/>
                    </a:lnTo>
                    <a:cubicBezTo>
                      <a:pt x="18034000" y="959943"/>
                      <a:pt x="18033247" y="961763"/>
                      <a:pt x="18031904" y="963104"/>
                    </a:cubicBezTo>
                    <a:cubicBezTo>
                      <a:pt x="18030563" y="964446"/>
                      <a:pt x="18028743" y="965200"/>
                      <a:pt x="18026845" y="965200"/>
                    </a:cubicBezTo>
                    <a:lnTo>
                      <a:pt x="7155" y="965200"/>
                    </a:lnTo>
                    <a:cubicBezTo>
                      <a:pt x="5257" y="965200"/>
                      <a:pt x="3437" y="964446"/>
                      <a:pt x="2096" y="963104"/>
                    </a:cubicBezTo>
                    <a:cubicBezTo>
                      <a:pt x="754" y="961763"/>
                      <a:pt x="0" y="959943"/>
                      <a:pt x="0" y="958045"/>
                    </a:cubicBezTo>
                    <a:lnTo>
                      <a:pt x="0" y="7155"/>
                    </a:lnTo>
                    <a:cubicBezTo>
                      <a:pt x="0" y="5257"/>
                      <a:pt x="754" y="3437"/>
                      <a:pt x="2096" y="2096"/>
                    </a:cubicBezTo>
                    <a:cubicBezTo>
                      <a:pt x="3437" y="754"/>
                      <a:pt x="5257" y="0"/>
                      <a:pt x="7155" y="0"/>
                    </a:cubicBezTo>
                    <a:close/>
                  </a:path>
                </a:pathLst>
              </a:custGeom>
              <a:solidFill>
                <a:srgbClr val="161B22"/>
              </a:solidFill>
              <a:ln w="9525" cap="sq">
                <a:solidFill>
                  <a:srgbClr val="30363D"/>
                </a:solidFill>
                <a:prstDash val="solid"/>
                <a:miter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0" y="-28575"/>
                <a:ext cx="18034000" cy="9937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95"/>
                  </a:lnSpc>
                </a:pPr>
                <a:r>
                  <a:rPr lang="en-US" sz="1425" b="1">
                    <a:solidFill>
                      <a:srgbClr val="F0F6FC"/>
                    </a:solidFill>
                    <a:latin typeface="IBM Plex Mono Bold"/>
                    <a:ea typeface="IBM Plex Mono Bold"/>
                    <a:cs typeface="IBM Plex Mono Bold"/>
                    <a:sym typeface="IBM Plex Mono Bold"/>
                  </a:rPr>
                  <a:t>CODEBASE · Models / Repositories / Services / API</a:t>
                </a:r>
              </a:p>
            </p:txBody>
          </p:sp>
        </p:grpSp>
        <p:sp>
          <p:nvSpPr>
            <p:cNvPr id="26" name="AutoShape 26"/>
            <p:cNvSpPr/>
            <p:nvPr/>
          </p:nvSpPr>
          <p:spPr>
            <a:xfrm>
              <a:off x="9017000" y="6045200"/>
              <a:ext cx="0" cy="304800"/>
            </a:xfrm>
            <a:prstGeom prst="line">
              <a:avLst/>
            </a:prstGeom>
            <a:ln w="25400" cap="flat">
              <a:solidFill>
                <a:srgbClr val="2F81F7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0" y="6350000"/>
              <a:ext cx="18034000" cy="965200"/>
              <a:chOff x="0" y="0"/>
              <a:chExt cx="18034000" cy="9652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18034000" cy="965200"/>
              </a:xfrm>
              <a:custGeom>
                <a:avLst/>
                <a:gdLst/>
                <a:ahLst/>
                <a:cxnLst/>
                <a:rect l="l" t="t" r="r" b="b"/>
                <a:pathLst>
                  <a:path w="18034000" h="965200">
                    <a:moveTo>
                      <a:pt x="7155" y="0"/>
                    </a:moveTo>
                    <a:lnTo>
                      <a:pt x="18026845" y="0"/>
                    </a:lnTo>
                    <a:cubicBezTo>
                      <a:pt x="18028743" y="0"/>
                      <a:pt x="18030563" y="754"/>
                      <a:pt x="18031904" y="2096"/>
                    </a:cubicBezTo>
                    <a:cubicBezTo>
                      <a:pt x="18033247" y="3437"/>
                      <a:pt x="18034000" y="5257"/>
                      <a:pt x="18034000" y="7155"/>
                    </a:cubicBezTo>
                    <a:lnTo>
                      <a:pt x="18034000" y="958045"/>
                    </a:lnTo>
                    <a:cubicBezTo>
                      <a:pt x="18034000" y="959943"/>
                      <a:pt x="18033247" y="961763"/>
                      <a:pt x="18031904" y="963104"/>
                    </a:cubicBezTo>
                    <a:cubicBezTo>
                      <a:pt x="18030563" y="964446"/>
                      <a:pt x="18028743" y="965200"/>
                      <a:pt x="18026845" y="965200"/>
                    </a:cubicBezTo>
                    <a:lnTo>
                      <a:pt x="7155" y="965200"/>
                    </a:lnTo>
                    <a:cubicBezTo>
                      <a:pt x="5257" y="965200"/>
                      <a:pt x="3437" y="964446"/>
                      <a:pt x="2096" y="963104"/>
                    </a:cubicBezTo>
                    <a:cubicBezTo>
                      <a:pt x="754" y="961763"/>
                      <a:pt x="0" y="959943"/>
                      <a:pt x="0" y="958045"/>
                    </a:cubicBezTo>
                    <a:lnTo>
                      <a:pt x="0" y="7155"/>
                    </a:lnTo>
                    <a:cubicBezTo>
                      <a:pt x="0" y="5257"/>
                      <a:pt x="754" y="3437"/>
                      <a:pt x="2096" y="2096"/>
                    </a:cubicBezTo>
                    <a:cubicBezTo>
                      <a:pt x="3437" y="754"/>
                      <a:pt x="5257" y="0"/>
                      <a:pt x="7155" y="0"/>
                    </a:cubicBezTo>
                    <a:close/>
                  </a:path>
                </a:pathLst>
              </a:custGeom>
              <a:solidFill>
                <a:srgbClr val="161B22"/>
              </a:solidFill>
              <a:ln w="9525" cap="sq">
                <a:solidFill>
                  <a:srgbClr val="30363D"/>
                </a:solidFill>
                <a:prstDash val="solid"/>
                <a:miter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0" y="-28575"/>
                <a:ext cx="18034000" cy="9937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95"/>
                  </a:lnSpc>
                </a:pPr>
                <a:r>
                  <a:rPr lang="en-US" sz="1425" b="1">
                    <a:solidFill>
                      <a:srgbClr val="F0F6FC"/>
                    </a:solidFill>
                    <a:latin typeface="IBM Plex Mono Bold"/>
                    <a:ea typeface="IBM Plex Mono Bold"/>
                    <a:cs typeface="IBM Plex Mono Bold"/>
                    <a:sym typeface="IBM Plex Mono Bold"/>
                  </a:rPr>
                  <a:t>TEST SUITE · pytest</a:t>
                </a:r>
              </a:p>
            </p:txBody>
          </p:sp>
        </p:grpSp>
        <p:sp>
          <p:nvSpPr>
            <p:cNvPr id="30" name="AutoShape 30"/>
            <p:cNvSpPr/>
            <p:nvPr/>
          </p:nvSpPr>
          <p:spPr>
            <a:xfrm>
              <a:off x="9017000" y="7315200"/>
              <a:ext cx="0" cy="304800"/>
            </a:xfrm>
            <a:prstGeom prst="line">
              <a:avLst/>
            </a:prstGeom>
            <a:ln w="25400" cap="flat">
              <a:solidFill>
                <a:srgbClr val="2F81F7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0" y="7620000"/>
              <a:ext cx="18034000" cy="965200"/>
              <a:chOff x="0" y="0"/>
              <a:chExt cx="18034000" cy="9652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18034000" cy="965200"/>
              </a:xfrm>
              <a:custGeom>
                <a:avLst/>
                <a:gdLst/>
                <a:ahLst/>
                <a:cxnLst/>
                <a:rect l="l" t="t" r="r" b="b"/>
                <a:pathLst>
                  <a:path w="18034000" h="965200">
                    <a:moveTo>
                      <a:pt x="7155" y="0"/>
                    </a:moveTo>
                    <a:lnTo>
                      <a:pt x="18026845" y="0"/>
                    </a:lnTo>
                    <a:cubicBezTo>
                      <a:pt x="18028743" y="0"/>
                      <a:pt x="18030563" y="754"/>
                      <a:pt x="18031904" y="2096"/>
                    </a:cubicBezTo>
                    <a:cubicBezTo>
                      <a:pt x="18033247" y="3437"/>
                      <a:pt x="18034000" y="5257"/>
                      <a:pt x="18034000" y="7155"/>
                    </a:cubicBezTo>
                    <a:lnTo>
                      <a:pt x="18034000" y="958045"/>
                    </a:lnTo>
                    <a:cubicBezTo>
                      <a:pt x="18034000" y="959943"/>
                      <a:pt x="18033247" y="961763"/>
                      <a:pt x="18031904" y="963104"/>
                    </a:cubicBezTo>
                    <a:cubicBezTo>
                      <a:pt x="18030563" y="964446"/>
                      <a:pt x="18028743" y="965200"/>
                      <a:pt x="18026845" y="965200"/>
                    </a:cubicBezTo>
                    <a:lnTo>
                      <a:pt x="7155" y="965200"/>
                    </a:lnTo>
                    <a:cubicBezTo>
                      <a:pt x="5257" y="965200"/>
                      <a:pt x="3437" y="964446"/>
                      <a:pt x="2096" y="963104"/>
                    </a:cubicBezTo>
                    <a:cubicBezTo>
                      <a:pt x="754" y="961763"/>
                      <a:pt x="0" y="959943"/>
                      <a:pt x="0" y="958045"/>
                    </a:cubicBezTo>
                    <a:lnTo>
                      <a:pt x="0" y="7155"/>
                    </a:lnTo>
                    <a:cubicBezTo>
                      <a:pt x="0" y="5257"/>
                      <a:pt x="754" y="3437"/>
                      <a:pt x="2096" y="2096"/>
                    </a:cubicBezTo>
                    <a:cubicBezTo>
                      <a:pt x="3437" y="754"/>
                      <a:pt x="5257" y="0"/>
                      <a:pt x="7155" y="0"/>
                    </a:cubicBezTo>
                    <a:close/>
                  </a:path>
                </a:pathLst>
              </a:custGeom>
              <a:solidFill>
                <a:srgbClr val="21262D"/>
              </a:solidFill>
              <a:ln w="9525" cap="sq">
                <a:solidFill>
                  <a:srgbClr val="30363D"/>
                </a:solidFill>
                <a:prstDash val="solid"/>
                <a:miter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0" y="-28575"/>
                <a:ext cx="18034000" cy="9937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95"/>
                  </a:lnSpc>
                </a:pPr>
                <a:r>
                  <a:rPr lang="en-US" sz="1425" b="1">
                    <a:solidFill>
                      <a:srgbClr val="F0F6FC"/>
                    </a:solidFill>
                    <a:latin typeface="IBM Plex Mono Bold"/>
                    <a:ea typeface="IBM Plex Mono Bold"/>
                    <a:cs typeface="IBM Plex Mono Bold"/>
                    <a:sym typeface="IBM Plex Mono Bold"/>
                  </a:rPr>
                  <a:t>VERIFICATION · 41 PASSED / 0 FAILED</a:t>
                </a:r>
              </a:p>
            </p:txBody>
          </p:sp>
        </p:grpSp>
      </p:grpSp>
      <p:sp>
        <p:nvSpPr>
          <p:cNvPr id="34" name="TextBox 34"/>
          <p:cNvSpPr txBox="1"/>
          <p:nvPr/>
        </p:nvSpPr>
        <p:spPr>
          <a:xfrm>
            <a:off x="2381250" y="9667875"/>
            <a:ext cx="13525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350">
                <a:solidFill>
                  <a:srgbClr val="8B949E"/>
                </a:solidFill>
                <a:latin typeface="IBM Plex Mono"/>
                <a:ea typeface="IBM Plex Mono"/>
                <a:cs typeface="IBM Plex Mono"/>
                <a:sym typeface="IBM Plex Mono"/>
              </a:rPr>
              <a:t>PYTHON   FASTAPI   PYDANTIC   PYTEST   STREAMLIT   IBM BOB 2.0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14400" y="1866900"/>
            <a:ext cx="16459200" cy="0"/>
          </a:xfrm>
          <a:prstGeom prst="line">
            <a:avLst/>
          </a:prstGeom>
          <a:ln w="9525" cap="flat">
            <a:solidFill>
              <a:srgbClr val="30363D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914400" y="2333625"/>
            <a:ext cx="7848600" cy="3143250"/>
            <a:chOff x="0" y="0"/>
            <a:chExt cx="10464800" cy="4191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464800" cy="4191000"/>
            </a:xfrm>
            <a:custGeom>
              <a:avLst/>
              <a:gdLst/>
              <a:ahLst/>
              <a:cxnLst/>
              <a:rect l="l" t="t" r="r" b="b"/>
              <a:pathLst>
                <a:path w="10464800" h="4191000">
                  <a:moveTo>
                    <a:pt x="0" y="0"/>
                  </a:moveTo>
                  <a:lnTo>
                    <a:pt x="10464800" y="0"/>
                  </a:lnTo>
                  <a:lnTo>
                    <a:pt x="10464800" y="4191000"/>
                  </a:lnTo>
                  <a:lnTo>
                    <a:pt x="0" y="4191000"/>
                  </a:lnTo>
                  <a:close/>
                </a:path>
              </a:pathLst>
            </a:custGeom>
            <a:solidFill>
              <a:srgbClr val="161B22"/>
            </a:solidFill>
            <a:ln w="9525" cap="sq">
              <a:solidFill>
                <a:srgbClr val="30363D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0464800" cy="422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144000" y="2333625"/>
            <a:ext cx="7848600" cy="3143250"/>
            <a:chOff x="0" y="0"/>
            <a:chExt cx="10464800" cy="4191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464800" cy="4191000"/>
            </a:xfrm>
            <a:custGeom>
              <a:avLst/>
              <a:gdLst/>
              <a:ahLst/>
              <a:cxnLst/>
              <a:rect l="l" t="t" r="r" b="b"/>
              <a:pathLst>
                <a:path w="10464800" h="4191000">
                  <a:moveTo>
                    <a:pt x="0" y="0"/>
                  </a:moveTo>
                  <a:lnTo>
                    <a:pt x="10464800" y="0"/>
                  </a:lnTo>
                  <a:lnTo>
                    <a:pt x="10464800" y="4191000"/>
                  </a:lnTo>
                  <a:lnTo>
                    <a:pt x="0" y="4191000"/>
                  </a:lnTo>
                  <a:close/>
                </a:path>
              </a:pathLst>
            </a:custGeom>
            <a:solidFill>
              <a:srgbClr val="161B22"/>
            </a:solidFill>
            <a:ln w="9525" cap="sq">
              <a:solidFill>
                <a:srgbClr val="30363D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0464800" cy="422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14400" y="5857875"/>
            <a:ext cx="7848600" cy="3143250"/>
            <a:chOff x="0" y="0"/>
            <a:chExt cx="10464800" cy="4191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464800" cy="4191000"/>
            </a:xfrm>
            <a:custGeom>
              <a:avLst/>
              <a:gdLst/>
              <a:ahLst/>
              <a:cxnLst/>
              <a:rect l="l" t="t" r="r" b="b"/>
              <a:pathLst>
                <a:path w="10464800" h="4191000">
                  <a:moveTo>
                    <a:pt x="0" y="0"/>
                  </a:moveTo>
                  <a:lnTo>
                    <a:pt x="10464800" y="0"/>
                  </a:lnTo>
                  <a:lnTo>
                    <a:pt x="10464800" y="4191000"/>
                  </a:lnTo>
                  <a:lnTo>
                    <a:pt x="0" y="4191000"/>
                  </a:lnTo>
                  <a:close/>
                </a:path>
              </a:pathLst>
            </a:custGeom>
            <a:solidFill>
              <a:srgbClr val="161B22"/>
            </a:solidFill>
            <a:ln w="9525" cap="sq">
              <a:solidFill>
                <a:srgbClr val="30363D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0464800" cy="422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144000" y="5857875"/>
            <a:ext cx="7848600" cy="3143250"/>
            <a:chOff x="0" y="0"/>
            <a:chExt cx="10464800" cy="4191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464800" cy="4191000"/>
            </a:xfrm>
            <a:custGeom>
              <a:avLst/>
              <a:gdLst/>
              <a:ahLst/>
              <a:cxnLst/>
              <a:rect l="l" t="t" r="r" b="b"/>
              <a:pathLst>
                <a:path w="10464800" h="4191000">
                  <a:moveTo>
                    <a:pt x="0" y="0"/>
                  </a:moveTo>
                  <a:lnTo>
                    <a:pt x="10464800" y="0"/>
                  </a:lnTo>
                  <a:lnTo>
                    <a:pt x="10464800" y="4191000"/>
                  </a:lnTo>
                  <a:lnTo>
                    <a:pt x="0" y="4191000"/>
                  </a:lnTo>
                  <a:close/>
                </a:path>
              </a:pathLst>
            </a:custGeom>
            <a:solidFill>
              <a:srgbClr val="161B22"/>
            </a:solidFill>
            <a:ln w="9525" cap="sq">
              <a:solidFill>
                <a:srgbClr val="30363D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0464800" cy="422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098421" y="2641641"/>
            <a:ext cx="4933950" cy="2867496"/>
          </a:xfrm>
          <a:custGeom>
            <a:avLst/>
            <a:gdLst/>
            <a:ahLst/>
            <a:cxnLst/>
            <a:rect l="l" t="t" r="r" b="b"/>
            <a:pathLst>
              <a:path w="4933950" h="2867496">
                <a:moveTo>
                  <a:pt x="0" y="0"/>
                </a:moveTo>
                <a:lnTo>
                  <a:pt x="4933950" y="0"/>
                </a:lnTo>
                <a:lnTo>
                  <a:pt x="4933950" y="2867495"/>
                </a:lnTo>
                <a:lnTo>
                  <a:pt x="0" y="28674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9467850" y="2705100"/>
            <a:ext cx="6438900" cy="2802815"/>
          </a:xfrm>
          <a:custGeom>
            <a:avLst/>
            <a:gdLst/>
            <a:ahLst/>
            <a:cxnLst/>
            <a:rect l="l" t="t" r="r" b="b"/>
            <a:pathLst>
              <a:path w="6438900" h="2802815">
                <a:moveTo>
                  <a:pt x="0" y="0"/>
                </a:moveTo>
                <a:lnTo>
                  <a:pt x="6438900" y="0"/>
                </a:lnTo>
                <a:lnTo>
                  <a:pt x="6438900" y="2802815"/>
                </a:lnTo>
                <a:lnTo>
                  <a:pt x="0" y="28028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028700" y="6393180"/>
            <a:ext cx="5003671" cy="2560320"/>
          </a:xfrm>
          <a:custGeom>
            <a:avLst/>
            <a:gdLst/>
            <a:ahLst/>
            <a:cxnLst/>
            <a:rect l="l" t="t" r="r" b="b"/>
            <a:pathLst>
              <a:path w="5003671" h="2560320">
                <a:moveTo>
                  <a:pt x="0" y="0"/>
                </a:moveTo>
                <a:lnTo>
                  <a:pt x="5003671" y="0"/>
                </a:lnTo>
                <a:lnTo>
                  <a:pt x="5003671" y="2560320"/>
                </a:lnTo>
                <a:lnTo>
                  <a:pt x="0" y="25603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8" name="Freeform 18"/>
          <p:cNvSpPr/>
          <p:nvPr/>
        </p:nvSpPr>
        <p:spPr>
          <a:xfrm>
            <a:off x="12177159" y="6105525"/>
            <a:ext cx="4815441" cy="2783025"/>
          </a:xfrm>
          <a:custGeom>
            <a:avLst/>
            <a:gdLst/>
            <a:ahLst/>
            <a:cxnLst/>
            <a:rect l="l" t="t" r="r" b="b"/>
            <a:pathLst>
              <a:path w="4815441" h="2783025">
                <a:moveTo>
                  <a:pt x="0" y="0"/>
                </a:moveTo>
                <a:lnTo>
                  <a:pt x="4815441" y="0"/>
                </a:lnTo>
                <a:lnTo>
                  <a:pt x="4815441" y="2783025"/>
                </a:lnTo>
                <a:lnTo>
                  <a:pt x="0" y="27830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914400" y="523875"/>
            <a:ext cx="8572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08">
                <a:solidFill>
                  <a:srgbClr val="2F81F7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LIVE PROTOTYPE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14400" y="1028700"/>
            <a:ext cx="14763750" cy="653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 b="1">
                <a:solidFill>
                  <a:srgbClr val="F0F6FC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The Working Prototype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6573500" y="581025"/>
            <a:ext cx="85725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b="1" spc="108">
                <a:solidFill>
                  <a:srgbClr val="2F81F7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06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467850" y="8201025"/>
            <a:ext cx="7239000" cy="567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3FB950"/>
                </a:solidFill>
                <a:latin typeface="IBM Plex Mono"/>
                <a:ea typeface="IBM Plex Mono"/>
                <a:cs typeface="IBM Plex Mono"/>
                <a:sym typeface="IBM Plex Mono"/>
              </a:rPr>
              <a:t>VERIFY</a:t>
            </a:r>
          </a:p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3FB950"/>
                </a:solidFill>
                <a:latin typeface="IBM Plex Mono"/>
                <a:ea typeface="IBM Plex Mono"/>
                <a:cs typeface="IBM Plex Mono"/>
                <a:sym typeface="IBM Plex Mono"/>
              </a:rPr>
              <a:t>41 passed / 0 failed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21E87A8D-6993-3C59-5C58-7881387DFF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8421" y="2379692"/>
            <a:ext cx="1539373" cy="23624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CE584824-B803-B8A8-C35C-78B89DB51DB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67850" y="2392080"/>
            <a:ext cx="1047750" cy="267073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093097F-5328-152F-E5D8-0AEF24A2094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8700" y="5928322"/>
            <a:ext cx="1196444" cy="434378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6374541E-8875-E8E3-BBB2-0F018D5B9DB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86900" y="5928322"/>
            <a:ext cx="1371719" cy="4648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23875"/>
            <a:ext cx="8572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08">
                <a:solidFill>
                  <a:srgbClr val="2F81F7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REAL DEBUGGING EXAMPLE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1028700"/>
            <a:ext cx="14763750" cy="653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 b="1">
                <a:solidFill>
                  <a:srgbClr val="F0F6FC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Example: Incorrect Project Progress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573500" y="581025"/>
            <a:ext cx="85725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b="1" spc="108">
                <a:solidFill>
                  <a:srgbClr val="2F81F7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07</a:t>
            </a:r>
          </a:p>
        </p:txBody>
      </p:sp>
      <p:sp>
        <p:nvSpPr>
          <p:cNvPr id="5" name="AutoShape 5"/>
          <p:cNvSpPr/>
          <p:nvPr/>
        </p:nvSpPr>
        <p:spPr>
          <a:xfrm>
            <a:off x="914400" y="1866900"/>
            <a:ext cx="16459200" cy="0"/>
          </a:xfrm>
          <a:prstGeom prst="line">
            <a:avLst/>
          </a:prstGeom>
          <a:ln w="9525" cap="flat">
            <a:solidFill>
              <a:srgbClr val="30363D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>
            <a:off x="914400" y="2286000"/>
            <a:ext cx="5143500" cy="4095750"/>
            <a:chOff x="0" y="0"/>
            <a:chExt cx="6858000" cy="5461000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6858000" cy="5461000"/>
              <a:chOff x="0" y="0"/>
              <a:chExt cx="6858000" cy="54610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6858000" cy="5461000"/>
              </a:xfrm>
              <a:custGeom>
                <a:avLst/>
                <a:gdLst/>
                <a:ahLst/>
                <a:cxnLst/>
                <a:rect l="l" t="t" r="r" b="b"/>
                <a:pathLst>
                  <a:path w="6858000" h="5461000">
                    <a:moveTo>
                      <a:pt x="0" y="0"/>
                    </a:moveTo>
                    <a:lnTo>
                      <a:pt x="6858000" y="0"/>
                    </a:lnTo>
                    <a:lnTo>
                      <a:pt x="6858000" y="5461000"/>
                    </a:lnTo>
                    <a:lnTo>
                      <a:pt x="0" y="5461000"/>
                    </a:lnTo>
                    <a:close/>
                  </a:path>
                </a:pathLst>
              </a:custGeom>
              <a:solidFill>
                <a:srgbClr val="161B22"/>
              </a:solidFill>
              <a:ln w="9525" cap="sq">
                <a:solidFill>
                  <a:srgbClr val="F85149"/>
                </a:solidFill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6858000" cy="5499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406400" y="368300"/>
              <a:ext cx="5715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>
                  <a:solidFill>
                    <a:srgbClr val="F85149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BUG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06400" y="1222375"/>
              <a:ext cx="5969000" cy="16986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10"/>
                </a:lnSpc>
              </a:pPr>
              <a:r>
                <a:rPr lang="en-US" sz="1800">
                  <a:solidFill>
                    <a:srgbClr val="F0F6F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5 total tasks, 2 completed</a:t>
              </a:r>
            </a:p>
            <a:p>
              <a:pPr algn="l">
                <a:lnSpc>
                  <a:spcPts val="2610"/>
                </a:lnSpc>
              </a:pPr>
              <a:endParaRPr lang="en-US" sz="1800">
                <a:solidFill>
                  <a:srgbClr val="F0F6FC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  <a:p>
              <a:pPr algn="l">
                <a:lnSpc>
                  <a:spcPts val="2610"/>
                </a:lnSpc>
              </a:pPr>
              <a:r>
                <a:rPr lang="en-US" sz="1800">
                  <a:solidFill>
                    <a:srgbClr val="F0F6F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Expected: 40%</a:t>
              </a:r>
            </a:p>
            <a:p>
              <a:pPr algn="l">
                <a:lnSpc>
                  <a:spcPts val="2610"/>
                </a:lnSpc>
              </a:pPr>
              <a:r>
                <a:rPr lang="en-US" sz="1800">
                  <a:solidFill>
                    <a:srgbClr val="F0F6F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Actual: 60%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572250" y="2286000"/>
            <a:ext cx="5143500" cy="4095750"/>
            <a:chOff x="0" y="0"/>
            <a:chExt cx="6858000" cy="5461000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6858000" cy="5461000"/>
              <a:chOff x="0" y="0"/>
              <a:chExt cx="6858000" cy="54610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6858000" cy="5461000"/>
              </a:xfrm>
              <a:custGeom>
                <a:avLst/>
                <a:gdLst/>
                <a:ahLst/>
                <a:cxnLst/>
                <a:rect l="l" t="t" r="r" b="b"/>
                <a:pathLst>
                  <a:path w="6858000" h="5461000">
                    <a:moveTo>
                      <a:pt x="0" y="0"/>
                    </a:moveTo>
                    <a:lnTo>
                      <a:pt x="6858000" y="0"/>
                    </a:lnTo>
                    <a:lnTo>
                      <a:pt x="6858000" y="5461000"/>
                    </a:lnTo>
                    <a:lnTo>
                      <a:pt x="0" y="5461000"/>
                    </a:lnTo>
                    <a:close/>
                  </a:path>
                </a:pathLst>
              </a:custGeom>
              <a:solidFill>
                <a:srgbClr val="161B22"/>
              </a:solidFill>
              <a:ln w="9525" cap="sq">
                <a:solidFill>
                  <a:srgbClr val="F85149"/>
                </a:solidFill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6858000" cy="5499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406400" y="368300"/>
              <a:ext cx="5715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>
                  <a:solidFill>
                    <a:srgbClr val="F85149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ROOT CAUSE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06400" y="1222375"/>
              <a:ext cx="5969000" cy="16986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10"/>
                </a:lnSpc>
              </a:pPr>
              <a:r>
                <a:rPr lang="en-US" sz="1800">
                  <a:solidFill>
                    <a:srgbClr val="F0F6F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completed = sum(</a:t>
              </a:r>
            </a:p>
            <a:p>
              <a:pPr algn="l">
                <a:lnSpc>
                  <a:spcPts val="2610"/>
                </a:lnSpc>
              </a:pPr>
              <a:r>
                <a:rPr lang="en-US" sz="1800">
                  <a:solidFill>
                    <a:srgbClr val="F0F6F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1 for t in tasks</a:t>
              </a:r>
            </a:p>
            <a:p>
              <a:pPr algn="l">
                <a:lnSpc>
                  <a:spcPts val="2610"/>
                </a:lnSpc>
              </a:pPr>
              <a:r>
                <a:rPr lang="en-US" sz="1800">
                  <a:solidFill>
                    <a:srgbClr val="F0F6F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if t.status != TaskStatus.DONE</a:t>
              </a:r>
            </a:p>
            <a:p>
              <a:pPr algn="l">
                <a:lnSpc>
                  <a:spcPts val="2610"/>
                </a:lnSpc>
              </a:pPr>
              <a:r>
                <a:rPr lang="en-US" sz="1800">
                  <a:solidFill>
                    <a:srgbClr val="F0F6F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)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230100" y="2286000"/>
            <a:ext cx="5143500" cy="4095750"/>
            <a:chOff x="0" y="0"/>
            <a:chExt cx="6858000" cy="5461000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6858000" cy="5461000"/>
              <a:chOff x="0" y="0"/>
              <a:chExt cx="6858000" cy="54610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6858000" cy="5461000"/>
              </a:xfrm>
              <a:custGeom>
                <a:avLst/>
                <a:gdLst/>
                <a:ahLst/>
                <a:cxnLst/>
                <a:rect l="l" t="t" r="r" b="b"/>
                <a:pathLst>
                  <a:path w="6858000" h="5461000">
                    <a:moveTo>
                      <a:pt x="0" y="0"/>
                    </a:moveTo>
                    <a:lnTo>
                      <a:pt x="6858000" y="0"/>
                    </a:lnTo>
                    <a:lnTo>
                      <a:pt x="6858000" y="5461000"/>
                    </a:lnTo>
                    <a:lnTo>
                      <a:pt x="0" y="5461000"/>
                    </a:lnTo>
                    <a:close/>
                  </a:path>
                </a:pathLst>
              </a:custGeom>
              <a:solidFill>
                <a:srgbClr val="161B22"/>
              </a:solidFill>
              <a:ln w="9525" cap="sq">
                <a:solidFill>
                  <a:srgbClr val="3FB950"/>
                </a:solidFill>
                <a:prstDash val="solid"/>
                <a:miter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6858000" cy="5499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406400" y="368300"/>
              <a:ext cx="5715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>
                  <a:solidFill>
                    <a:srgbClr val="3FB950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FIX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06400" y="1222375"/>
              <a:ext cx="5969000" cy="16986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10"/>
                </a:lnSpc>
              </a:pPr>
              <a:r>
                <a:rPr lang="en-US" sz="1800">
                  <a:solidFill>
                    <a:srgbClr val="F0F6F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completed = sum(</a:t>
              </a:r>
            </a:p>
            <a:p>
              <a:pPr algn="l">
                <a:lnSpc>
                  <a:spcPts val="2610"/>
                </a:lnSpc>
              </a:pPr>
              <a:r>
                <a:rPr lang="en-US" sz="1800">
                  <a:solidFill>
                    <a:srgbClr val="F0F6F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1 for t in tasks</a:t>
              </a:r>
            </a:p>
            <a:p>
              <a:pPr algn="l">
                <a:lnSpc>
                  <a:spcPts val="2610"/>
                </a:lnSpc>
              </a:pPr>
              <a:r>
                <a:rPr lang="en-US" sz="1800">
                  <a:solidFill>
                    <a:srgbClr val="F0F6F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if t.status == TaskStatus.DONE</a:t>
              </a:r>
            </a:p>
            <a:p>
              <a:pPr algn="l">
                <a:lnSpc>
                  <a:spcPts val="2610"/>
                </a:lnSpc>
              </a:pPr>
              <a:r>
                <a:rPr lang="en-US" sz="1800">
                  <a:solidFill>
                    <a:srgbClr val="F0F6F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)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2381250" y="7143750"/>
            <a:ext cx="13525500" cy="1238250"/>
            <a:chOff x="0" y="0"/>
            <a:chExt cx="18034000" cy="1651000"/>
          </a:xfrm>
        </p:grpSpPr>
        <p:grpSp>
          <p:nvGrpSpPr>
            <p:cNvPr id="25" name="Group 25"/>
            <p:cNvGrpSpPr/>
            <p:nvPr/>
          </p:nvGrpSpPr>
          <p:grpSpPr>
            <a:xfrm>
              <a:off x="0" y="0"/>
              <a:ext cx="18034000" cy="1651000"/>
              <a:chOff x="0" y="0"/>
              <a:chExt cx="18034000" cy="16510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18034000" cy="1651000"/>
              </a:xfrm>
              <a:custGeom>
                <a:avLst/>
                <a:gdLst/>
                <a:ahLst/>
                <a:cxnLst/>
                <a:rect l="l" t="t" r="r" b="b"/>
                <a:pathLst>
                  <a:path w="18034000" h="1651000">
                    <a:moveTo>
                      <a:pt x="0" y="0"/>
                    </a:moveTo>
                    <a:lnTo>
                      <a:pt x="18034000" y="0"/>
                    </a:lnTo>
                    <a:lnTo>
                      <a:pt x="18034000" y="1651000"/>
                    </a:lnTo>
                    <a:lnTo>
                      <a:pt x="0" y="1651000"/>
                    </a:lnTo>
                    <a:close/>
                  </a:path>
                </a:pathLst>
              </a:custGeom>
              <a:solidFill>
                <a:srgbClr val="161B22"/>
              </a:solidFill>
              <a:ln w="9525" cap="sq">
                <a:solidFill>
                  <a:srgbClr val="3FB950"/>
                </a:solidFill>
                <a:prstDash val="solid"/>
                <a:miter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0" y="-38100"/>
                <a:ext cx="18034000" cy="1689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8" name="TextBox 28"/>
            <p:cNvSpPr txBox="1"/>
            <p:nvPr/>
          </p:nvSpPr>
          <p:spPr>
            <a:xfrm>
              <a:off x="381000" y="469900"/>
              <a:ext cx="17272000" cy="5486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69"/>
                </a:lnSpc>
              </a:pPr>
              <a:r>
                <a:rPr lang="en-US" sz="2550" b="1">
                  <a:solidFill>
                    <a:srgbClr val="3FB950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VERIFICATION   41 TESTS  ·  41 PASSED  ·  0 FAILED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23875"/>
            <a:ext cx="8572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08">
                <a:solidFill>
                  <a:srgbClr val="2F81F7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REGRESSION TESTING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1028700"/>
            <a:ext cx="14763750" cy="653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 b="1">
                <a:solidFill>
                  <a:srgbClr val="F0F6FC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The Fix Was Not Enough — We Tested the Workflow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573500" y="581025"/>
            <a:ext cx="85725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b="1" spc="108">
                <a:solidFill>
                  <a:srgbClr val="2F81F7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08</a:t>
            </a:r>
          </a:p>
        </p:txBody>
      </p:sp>
      <p:sp>
        <p:nvSpPr>
          <p:cNvPr id="5" name="AutoShape 5"/>
          <p:cNvSpPr/>
          <p:nvPr/>
        </p:nvSpPr>
        <p:spPr>
          <a:xfrm>
            <a:off x="914400" y="1866900"/>
            <a:ext cx="16459200" cy="0"/>
          </a:xfrm>
          <a:prstGeom prst="line">
            <a:avLst/>
          </a:prstGeom>
          <a:ln w="9525" cap="flat">
            <a:solidFill>
              <a:srgbClr val="30363D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>
            <a:off x="914400" y="2381250"/>
            <a:ext cx="16459200" cy="704850"/>
            <a:chOff x="0" y="0"/>
            <a:chExt cx="21945600" cy="939800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5314950" cy="939800"/>
              <a:chOff x="0" y="0"/>
              <a:chExt cx="5314950" cy="9398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5314950" cy="939800"/>
              </a:xfrm>
              <a:custGeom>
                <a:avLst/>
                <a:gdLst/>
                <a:ahLst/>
                <a:cxnLst/>
                <a:rect l="l" t="t" r="r" b="b"/>
                <a:pathLst>
                  <a:path w="5314950" h="939800">
                    <a:moveTo>
                      <a:pt x="24277" y="0"/>
                    </a:moveTo>
                    <a:lnTo>
                      <a:pt x="5290673" y="0"/>
                    </a:lnTo>
                    <a:cubicBezTo>
                      <a:pt x="5304081" y="0"/>
                      <a:pt x="5314950" y="10869"/>
                      <a:pt x="5314950" y="24277"/>
                    </a:cubicBezTo>
                    <a:lnTo>
                      <a:pt x="5314950" y="915523"/>
                    </a:lnTo>
                    <a:cubicBezTo>
                      <a:pt x="5314950" y="928931"/>
                      <a:pt x="5304081" y="939800"/>
                      <a:pt x="5290673" y="939800"/>
                    </a:cubicBezTo>
                    <a:lnTo>
                      <a:pt x="24277" y="939800"/>
                    </a:lnTo>
                    <a:cubicBezTo>
                      <a:pt x="10869" y="939800"/>
                      <a:pt x="0" y="928931"/>
                      <a:pt x="0" y="915523"/>
                    </a:cubicBezTo>
                    <a:lnTo>
                      <a:pt x="0" y="24277"/>
                    </a:lnTo>
                    <a:cubicBezTo>
                      <a:pt x="0" y="10869"/>
                      <a:pt x="10869" y="0"/>
                      <a:pt x="24277" y="0"/>
                    </a:cubicBezTo>
                    <a:close/>
                  </a:path>
                </a:pathLst>
              </a:custGeom>
              <a:solidFill>
                <a:srgbClr val="161B22"/>
              </a:solidFill>
              <a:ln w="9525" cap="sq">
                <a:solidFill>
                  <a:srgbClr val="30363D"/>
                </a:solidFill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28575"/>
                <a:ext cx="5314950" cy="9683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95"/>
                  </a:lnSpc>
                </a:pPr>
                <a:r>
                  <a:rPr lang="en-US" sz="1425" b="1">
                    <a:solidFill>
                      <a:srgbClr val="F0F6FC"/>
                    </a:solidFill>
                    <a:latin typeface="IBM Plex Mono Bold"/>
                    <a:ea typeface="IBM Plex Mono Bold"/>
                    <a:cs typeface="IBM Plex Mono Bold"/>
                    <a:sym typeface="IBM Plex Mono Bold"/>
                  </a:rPr>
                  <a:t>BEFORE · 31 TESTS</a:t>
                </a:r>
              </a:p>
            </p:txBody>
          </p:sp>
        </p:grpSp>
        <p:sp>
          <p:nvSpPr>
            <p:cNvPr id="10" name="AutoShape 10"/>
            <p:cNvSpPr/>
            <p:nvPr/>
          </p:nvSpPr>
          <p:spPr>
            <a:xfrm>
              <a:off x="5314950" y="469900"/>
              <a:ext cx="228600" cy="0"/>
            </a:xfrm>
            <a:prstGeom prst="line">
              <a:avLst/>
            </a:prstGeom>
            <a:ln w="25400" cap="flat">
              <a:solidFill>
                <a:srgbClr val="2F81F7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5543550" y="0"/>
              <a:ext cx="5314950" cy="939800"/>
              <a:chOff x="0" y="0"/>
              <a:chExt cx="5314950" cy="9398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5314950" cy="939800"/>
              </a:xfrm>
              <a:custGeom>
                <a:avLst/>
                <a:gdLst/>
                <a:ahLst/>
                <a:cxnLst/>
                <a:rect l="l" t="t" r="r" b="b"/>
                <a:pathLst>
                  <a:path w="5314950" h="939800">
                    <a:moveTo>
                      <a:pt x="24277" y="0"/>
                    </a:moveTo>
                    <a:lnTo>
                      <a:pt x="5290673" y="0"/>
                    </a:lnTo>
                    <a:cubicBezTo>
                      <a:pt x="5304081" y="0"/>
                      <a:pt x="5314950" y="10869"/>
                      <a:pt x="5314950" y="24277"/>
                    </a:cubicBezTo>
                    <a:lnTo>
                      <a:pt x="5314950" y="915523"/>
                    </a:lnTo>
                    <a:cubicBezTo>
                      <a:pt x="5314950" y="928931"/>
                      <a:pt x="5304081" y="939800"/>
                      <a:pt x="5290673" y="939800"/>
                    </a:cubicBezTo>
                    <a:lnTo>
                      <a:pt x="24277" y="939800"/>
                    </a:lnTo>
                    <a:cubicBezTo>
                      <a:pt x="10869" y="939800"/>
                      <a:pt x="0" y="928931"/>
                      <a:pt x="0" y="915523"/>
                    </a:cubicBezTo>
                    <a:lnTo>
                      <a:pt x="0" y="24277"/>
                    </a:lnTo>
                    <a:cubicBezTo>
                      <a:pt x="0" y="10869"/>
                      <a:pt x="10869" y="0"/>
                      <a:pt x="24277" y="0"/>
                    </a:cubicBezTo>
                    <a:close/>
                  </a:path>
                </a:pathLst>
              </a:custGeom>
              <a:solidFill>
                <a:srgbClr val="161B22"/>
              </a:solidFill>
              <a:ln w="9525" cap="sq">
                <a:solidFill>
                  <a:srgbClr val="30363D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28575"/>
                <a:ext cx="5314950" cy="9683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95"/>
                  </a:lnSpc>
                </a:pPr>
                <a:r>
                  <a:rPr lang="en-US" sz="1425" b="1">
                    <a:solidFill>
                      <a:srgbClr val="F0F6FC"/>
                    </a:solidFill>
                    <a:latin typeface="IBM Plex Mono Bold"/>
                    <a:ea typeface="IBM Plex Mono Bold"/>
                    <a:cs typeface="IBM Plex Mono Bold"/>
                    <a:sym typeface="IBM Plex Mono Bold"/>
                  </a:rPr>
                  <a:t>EXPANSION · +10</a:t>
                </a:r>
              </a:p>
            </p:txBody>
          </p:sp>
        </p:grpSp>
        <p:sp>
          <p:nvSpPr>
            <p:cNvPr id="14" name="AutoShape 14"/>
            <p:cNvSpPr/>
            <p:nvPr/>
          </p:nvSpPr>
          <p:spPr>
            <a:xfrm>
              <a:off x="10858500" y="469900"/>
              <a:ext cx="228600" cy="0"/>
            </a:xfrm>
            <a:prstGeom prst="line">
              <a:avLst/>
            </a:prstGeom>
            <a:ln w="25400" cap="flat">
              <a:solidFill>
                <a:srgbClr val="2F81F7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11087100" y="0"/>
              <a:ext cx="5314950" cy="939800"/>
              <a:chOff x="0" y="0"/>
              <a:chExt cx="5314950" cy="9398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5314950" cy="939800"/>
              </a:xfrm>
              <a:custGeom>
                <a:avLst/>
                <a:gdLst/>
                <a:ahLst/>
                <a:cxnLst/>
                <a:rect l="l" t="t" r="r" b="b"/>
                <a:pathLst>
                  <a:path w="5314950" h="939800">
                    <a:moveTo>
                      <a:pt x="24277" y="0"/>
                    </a:moveTo>
                    <a:lnTo>
                      <a:pt x="5290673" y="0"/>
                    </a:lnTo>
                    <a:cubicBezTo>
                      <a:pt x="5304081" y="0"/>
                      <a:pt x="5314950" y="10869"/>
                      <a:pt x="5314950" y="24277"/>
                    </a:cubicBezTo>
                    <a:lnTo>
                      <a:pt x="5314950" y="915523"/>
                    </a:lnTo>
                    <a:cubicBezTo>
                      <a:pt x="5314950" y="928931"/>
                      <a:pt x="5304081" y="939800"/>
                      <a:pt x="5290673" y="939800"/>
                    </a:cubicBezTo>
                    <a:lnTo>
                      <a:pt x="24277" y="939800"/>
                    </a:lnTo>
                    <a:cubicBezTo>
                      <a:pt x="10869" y="939800"/>
                      <a:pt x="0" y="928931"/>
                      <a:pt x="0" y="915523"/>
                    </a:cubicBezTo>
                    <a:lnTo>
                      <a:pt x="0" y="24277"/>
                    </a:lnTo>
                    <a:cubicBezTo>
                      <a:pt x="0" y="10869"/>
                      <a:pt x="10869" y="0"/>
                      <a:pt x="24277" y="0"/>
                    </a:cubicBezTo>
                    <a:close/>
                  </a:path>
                </a:pathLst>
              </a:custGeom>
              <a:solidFill>
                <a:srgbClr val="161B22"/>
              </a:solidFill>
              <a:ln w="9525" cap="sq">
                <a:solidFill>
                  <a:srgbClr val="30363D"/>
                </a:solidFill>
                <a:prstDash val="solid"/>
                <a:miter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28575"/>
                <a:ext cx="5314950" cy="9683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95"/>
                  </a:lnSpc>
                </a:pPr>
                <a:r>
                  <a:rPr lang="en-US" sz="1425" b="1">
                    <a:solidFill>
                      <a:srgbClr val="F0F6FC"/>
                    </a:solidFill>
                    <a:latin typeface="IBM Plex Mono Bold"/>
                    <a:ea typeface="IBM Plex Mono Bold"/>
                    <a:cs typeface="IBM Plex Mono Bold"/>
                    <a:sym typeface="IBM Plex Mono Bold"/>
                  </a:rPr>
                  <a:t>FINAL · 41 TESTS</a:t>
                </a:r>
              </a:p>
            </p:txBody>
          </p:sp>
        </p:grpSp>
        <p:sp>
          <p:nvSpPr>
            <p:cNvPr id="18" name="AutoShape 18"/>
            <p:cNvSpPr/>
            <p:nvPr/>
          </p:nvSpPr>
          <p:spPr>
            <a:xfrm>
              <a:off x="16402050" y="469900"/>
              <a:ext cx="228600" cy="0"/>
            </a:xfrm>
            <a:prstGeom prst="line">
              <a:avLst/>
            </a:prstGeom>
            <a:ln w="25400" cap="flat">
              <a:solidFill>
                <a:srgbClr val="2F81F7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16630650" y="0"/>
              <a:ext cx="5314950" cy="939800"/>
              <a:chOff x="0" y="0"/>
              <a:chExt cx="5314950" cy="9398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5314950" cy="939800"/>
              </a:xfrm>
              <a:custGeom>
                <a:avLst/>
                <a:gdLst/>
                <a:ahLst/>
                <a:cxnLst/>
                <a:rect l="l" t="t" r="r" b="b"/>
                <a:pathLst>
                  <a:path w="5314950" h="939800">
                    <a:moveTo>
                      <a:pt x="24277" y="0"/>
                    </a:moveTo>
                    <a:lnTo>
                      <a:pt x="5290673" y="0"/>
                    </a:lnTo>
                    <a:cubicBezTo>
                      <a:pt x="5304081" y="0"/>
                      <a:pt x="5314950" y="10869"/>
                      <a:pt x="5314950" y="24277"/>
                    </a:cubicBezTo>
                    <a:lnTo>
                      <a:pt x="5314950" y="915523"/>
                    </a:lnTo>
                    <a:cubicBezTo>
                      <a:pt x="5314950" y="928931"/>
                      <a:pt x="5304081" y="939800"/>
                      <a:pt x="5290673" y="939800"/>
                    </a:cubicBezTo>
                    <a:lnTo>
                      <a:pt x="24277" y="939800"/>
                    </a:lnTo>
                    <a:cubicBezTo>
                      <a:pt x="10869" y="939800"/>
                      <a:pt x="0" y="928931"/>
                      <a:pt x="0" y="915523"/>
                    </a:cubicBezTo>
                    <a:lnTo>
                      <a:pt x="0" y="24277"/>
                    </a:lnTo>
                    <a:cubicBezTo>
                      <a:pt x="0" y="10869"/>
                      <a:pt x="10869" y="0"/>
                      <a:pt x="24277" y="0"/>
                    </a:cubicBezTo>
                    <a:close/>
                  </a:path>
                </a:pathLst>
              </a:custGeom>
              <a:solidFill>
                <a:srgbClr val="21262D"/>
              </a:solidFill>
              <a:ln w="9525" cap="sq">
                <a:solidFill>
                  <a:srgbClr val="30363D"/>
                </a:solidFill>
                <a:prstDash val="solid"/>
                <a:miter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28575"/>
                <a:ext cx="5314950" cy="9683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95"/>
                  </a:lnSpc>
                </a:pPr>
                <a:r>
                  <a:rPr lang="en-US" sz="1425" b="1">
                    <a:solidFill>
                      <a:srgbClr val="F0F6FC"/>
                    </a:solidFill>
                    <a:latin typeface="IBM Plex Mono Bold"/>
                    <a:ea typeface="IBM Plex Mono Bold"/>
                    <a:cs typeface="IBM Plex Mono Bold"/>
                    <a:sym typeface="IBM Plex Mono Bold"/>
                  </a:rPr>
                  <a:t>RESULT · 41 PASSED / 0 FAILED</a:t>
                </a:r>
              </a:p>
            </p:txBody>
          </p:sp>
        </p:grpSp>
      </p:grpSp>
      <p:sp>
        <p:nvSpPr>
          <p:cNvPr id="22" name="TextBox 22"/>
          <p:cNvSpPr txBox="1"/>
          <p:nvPr/>
        </p:nvSpPr>
        <p:spPr>
          <a:xfrm>
            <a:off x="914400" y="4038600"/>
            <a:ext cx="7810500" cy="1051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3"/>
              </a:lnSpc>
            </a:pPr>
            <a:r>
              <a:rPr lang="en-US" sz="1275">
                <a:solidFill>
                  <a:srgbClr val="F0F6FC"/>
                </a:solidFill>
                <a:latin typeface="IBM Plex Mono"/>
                <a:ea typeface="IBM Plex Mono"/>
                <a:cs typeface="IBM Plex Mono"/>
                <a:sym typeface="IBM Plex Mono"/>
              </a:rPr>
              <a:t>COVERAGE ADDED</a:t>
            </a:r>
          </a:p>
          <a:p>
            <a:pPr algn="l">
              <a:lnSpc>
                <a:spcPts val="2103"/>
              </a:lnSpc>
            </a:pPr>
            <a:r>
              <a:rPr lang="en-US" sz="1275">
                <a:solidFill>
                  <a:srgbClr val="F0F6FC"/>
                </a:solidFill>
                <a:latin typeface="IBM Plex Mono"/>
                <a:ea typeface="IBM Plex Mono"/>
                <a:cs typeface="IBM Plex Mono"/>
                <a:sym typeface="IBM Plex Mono"/>
              </a:rPr>
              <a:t>status blocked · status done · missing task handling</a:t>
            </a:r>
          </a:p>
          <a:p>
            <a:pPr algn="l">
              <a:lnSpc>
                <a:spcPts val="2103"/>
              </a:lnSpc>
            </a:pPr>
            <a:r>
              <a:rPr lang="en-US" sz="1275">
                <a:solidFill>
                  <a:srgbClr val="F0F6FC"/>
                </a:solidFill>
                <a:latin typeface="IBM Plex Mono"/>
                <a:ea typeface="IBM Plex Mono"/>
                <a:cs typeface="IBM Plex Mono"/>
                <a:sym typeface="IBM Plex Mono"/>
              </a:rPr>
              <a:t>assignment handling · status/assignee preservation</a:t>
            </a:r>
          </a:p>
          <a:p>
            <a:pPr algn="l">
              <a:lnSpc>
                <a:spcPts val="2103"/>
              </a:lnSpc>
            </a:pPr>
            <a:r>
              <a:rPr lang="en-US" sz="1275">
                <a:solidFill>
                  <a:srgbClr val="F0F6FC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project filtering · status filtering · assignee filtering · combined filters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9525000" y="3619500"/>
            <a:ext cx="7810500" cy="4000500"/>
            <a:chOff x="0" y="0"/>
            <a:chExt cx="10414000" cy="5334000"/>
          </a:xfrm>
        </p:grpSpPr>
        <p:grpSp>
          <p:nvGrpSpPr>
            <p:cNvPr id="24" name="Group 24"/>
            <p:cNvGrpSpPr/>
            <p:nvPr/>
          </p:nvGrpSpPr>
          <p:grpSpPr>
            <a:xfrm>
              <a:off x="0" y="0"/>
              <a:ext cx="10414000" cy="5334000"/>
              <a:chOff x="0" y="0"/>
              <a:chExt cx="10414000" cy="53340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10414000" cy="5334000"/>
              </a:xfrm>
              <a:custGeom>
                <a:avLst/>
                <a:gdLst/>
                <a:ahLst/>
                <a:cxnLst/>
                <a:rect l="l" t="t" r="r" b="b"/>
                <a:pathLst>
                  <a:path w="10414000" h="5334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5334000"/>
                    </a:lnTo>
                    <a:lnTo>
                      <a:pt x="0" y="5334000"/>
                    </a:lnTo>
                    <a:close/>
                  </a:path>
                </a:pathLst>
              </a:custGeom>
              <a:solidFill>
                <a:srgbClr val="161B22"/>
              </a:solidFill>
              <a:ln w="9525" cap="sq">
                <a:solidFill>
                  <a:srgbClr val="30363D"/>
                </a:solidFill>
                <a:prstDash val="solid"/>
                <a:miter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0" y="-38100"/>
                <a:ext cx="10414000" cy="5372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508000" y="469900"/>
              <a:ext cx="8890000" cy="27241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92"/>
                </a:lnSpc>
              </a:pPr>
              <a:r>
                <a:rPr lang="en-US" sz="1650">
                  <a:solidFill>
                    <a:srgbClr val="3FB950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$ pytest tests/ -v</a:t>
              </a:r>
            </a:p>
            <a:p>
              <a:pPr algn="l">
                <a:lnSpc>
                  <a:spcPts val="2392"/>
                </a:lnSpc>
              </a:pPr>
              <a:endParaRPr lang="en-US" sz="1650">
                <a:solidFill>
                  <a:srgbClr val="3FB950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  <a:p>
              <a:pPr algn="l">
                <a:lnSpc>
                  <a:spcPts val="2392"/>
                </a:lnSpc>
              </a:pPr>
              <a:r>
                <a:rPr lang="en-US" sz="1650">
                  <a:solidFill>
                    <a:srgbClr val="3FB950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================ test session starts ================</a:t>
              </a:r>
            </a:p>
            <a:p>
              <a:pPr algn="l">
                <a:lnSpc>
                  <a:spcPts val="2392"/>
                </a:lnSpc>
              </a:pPr>
              <a:r>
                <a:rPr lang="en-US" sz="1650">
                  <a:solidFill>
                    <a:srgbClr val="3FB950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collected 41 items</a:t>
              </a:r>
            </a:p>
            <a:p>
              <a:pPr algn="l">
                <a:lnSpc>
                  <a:spcPts val="2392"/>
                </a:lnSpc>
              </a:pPr>
              <a:r>
                <a:rPr lang="en-US" sz="1650">
                  <a:solidFill>
                    <a:srgbClr val="3FB950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.........................................</a:t>
              </a:r>
            </a:p>
            <a:p>
              <a:pPr algn="l">
                <a:lnSpc>
                  <a:spcPts val="2392"/>
                </a:lnSpc>
              </a:pPr>
              <a:endParaRPr lang="en-US" sz="1650">
                <a:solidFill>
                  <a:srgbClr val="3FB950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  <a:p>
              <a:pPr algn="l">
                <a:lnSpc>
                  <a:spcPts val="2392"/>
                </a:lnSpc>
              </a:pPr>
              <a:r>
                <a:rPr lang="en-US" sz="1650">
                  <a:solidFill>
                    <a:srgbClr val="3FB950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41 passed, 0 failed, 80 warnings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9906000" y="7877175"/>
            <a:ext cx="6667500" cy="273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1650">
                <a:solidFill>
                  <a:srgbClr val="8B949E"/>
                </a:solidFill>
                <a:latin typeface="IBM Plex Sans"/>
                <a:ea typeface="IBM Plex Sans"/>
                <a:cs typeface="IBM Plex Sans"/>
                <a:sym typeface="IBM Plex Sans"/>
              </a:rPr>
              <a:t>Warnings are existing datetime deprecation warnings, not test failures.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23875"/>
            <a:ext cx="8572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08">
                <a:solidFill>
                  <a:srgbClr val="2F81F7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SYNTHETIC · TEAM-CREATED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1028700"/>
            <a:ext cx="14763750" cy="653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 b="1">
                <a:solidFill>
                  <a:srgbClr val="F0F6FC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 Structured Bug-Report Dataset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573500" y="581025"/>
            <a:ext cx="85725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b="1" spc="108">
                <a:solidFill>
                  <a:srgbClr val="2F81F7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09</a:t>
            </a:r>
          </a:p>
        </p:txBody>
      </p:sp>
      <p:sp>
        <p:nvSpPr>
          <p:cNvPr id="5" name="AutoShape 5"/>
          <p:cNvSpPr/>
          <p:nvPr/>
        </p:nvSpPr>
        <p:spPr>
          <a:xfrm>
            <a:off x="914400" y="1866900"/>
            <a:ext cx="16459200" cy="0"/>
          </a:xfrm>
          <a:prstGeom prst="line">
            <a:avLst/>
          </a:prstGeom>
          <a:ln w="9525" cap="flat">
            <a:solidFill>
              <a:srgbClr val="30363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914400" y="2524125"/>
            <a:ext cx="4762500" cy="96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>
                <a:solidFill>
                  <a:srgbClr val="F0F6FC"/>
                </a:solidFill>
                <a:latin typeface="IBM Plex Mono"/>
                <a:ea typeface="IBM Plex Mono"/>
                <a:cs typeface="IBM Plex Mono"/>
                <a:sym typeface="IBM Plex Mono"/>
              </a:rPr>
              <a:t>data/</a:t>
            </a:r>
          </a:p>
          <a:p>
            <a:pPr algn="l">
              <a:lnSpc>
                <a:spcPts val="2610"/>
              </a:lnSpc>
            </a:pPr>
            <a:r>
              <a:rPr lang="en-US" sz="1800">
                <a:solidFill>
                  <a:srgbClr val="F0F6FC"/>
                </a:solidFill>
                <a:latin typeface="IBM Plex Mono"/>
                <a:ea typeface="IBM Plex Mono"/>
                <a:cs typeface="IBM Plex Mono"/>
                <a:sym typeface="IBM Plex Mono"/>
              </a:rPr>
              <a:t>├── bug_reports.json</a:t>
            </a:r>
          </a:p>
          <a:p>
            <a:pPr algn="l">
              <a:lnSpc>
                <a:spcPts val="2610"/>
              </a:lnSpc>
            </a:pPr>
            <a:r>
              <a:rPr lang="en-US" sz="1800">
                <a:solidFill>
                  <a:srgbClr val="F0F6FC"/>
                </a:solidFill>
                <a:latin typeface="IBM Plex Mono"/>
                <a:ea typeface="IBM Plex Mono"/>
                <a:cs typeface="IBM Plex Mono"/>
                <a:sym typeface="IBM Plex Mono"/>
              </a:rPr>
              <a:t>└── README.md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400" y="4467225"/>
            <a:ext cx="7239000" cy="1144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5"/>
              </a:lnSpc>
            </a:pPr>
            <a:r>
              <a:rPr lang="en-US" sz="1725">
                <a:solidFill>
                  <a:srgbClr val="F0F6FC"/>
                </a:solidFill>
                <a:latin typeface="IBM Plex Mono"/>
                <a:ea typeface="IBM Plex Mono"/>
                <a:cs typeface="IBM Plex Mono"/>
                <a:sym typeface="IBM Plex Mono"/>
              </a:rPr>
              <a:t>BUG-001  Incorrect project progress calculation</a:t>
            </a:r>
          </a:p>
          <a:p>
            <a:pPr algn="l">
              <a:lnSpc>
                <a:spcPts val="3105"/>
              </a:lnSpc>
            </a:pPr>
            <a:r>
              <a:rPr lang="en-US" sz="1725">
                <a:solidFill>
                  <a:srgbClr val="F0F6FC"/>
                </a:solidFill>
                <a:latin typeface="IBM Plex Mono"/>
                <a:ea typeface="IBM Plex Mono"/>
                <a:cs typeface="IBM Plex Mono"/>
                <a:sym typeface="IBM Plex Mono"/>
              </a:rPr>
              <a:t>BUG-002  Task status update not persisting</a:t>
            </a:r>
          </a:p>
          <a:p>
            <a:pPr algn="l">
              <a:lnSpc>
                <a:spcPts val="3105"/>
              </a:lnSpc>
            </a:pPr>
            <a:r>
              <a:rPr lang="en-US" sz="1725">
                <a:solidFill>
                  <a:srgbClr val="F0F6FC"/>
                </a:solidFill>
                <a:latin typeface="IBM Plex Mono"/>
                <a:ea typeface="IBM Plex Mono"/>
                <a:cs typeface="IBM Plex Mono"/>
                <a:sym typeface="IBM Plex Mono"/>
              </a:rPr>
              <a:t>BUG-003  Task filter arguments swapped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429750" y="2333625"/>
            <a:ext cx="7905750" cy="3619500"/>
            <a:chOff x="0" y="0"/>
            <a:chExt cx="10541000" cy="4826000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10541000" cy="4826000"/>
              <a:chOff x="0" y="0"/>
              <a:chExt cx="10541000" cy="48260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0541000" cy="4826000"/>
              </a:xfrm>
              <a:custGeom>
                <a:avLst/>
                <a:gdLst/>
                <a:ahLst/>
                <a:cxnLst/>
                <a:rect l="l" t="t" r="r" b="b"/>
                <a:pathLst>
                  <a:path w="10541000" h="4826000">
                    <a:moveTo>
                      <a:pt x="0" y="0"/>
                    </a:moveTo>
                    <a:lnTo>
                      <a:pt x="10541000" y="0"/>
                    </a:lnTo>
                    <a:lnTo>
                      <a:pt x="10541000" y="4826000"/>
                    </a:lnTo>
                    <a:lnTo>
                      <a:pt x="0" y="4826000"/>
                    </a:lnTo>
                    <a:close/>
                  </a:path>
                </a:pathLst>
              </a:custGeom>
              <a:solidFill>
                <a:srgbClr val="161B22"/>
              </a:solidFill>
              <a:ln w="9525" cap="sq">
                <a:solidFill>
                  <a:srgbClr val="30363D"/>
                </a:solidFill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10541000" cy="4864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508000" y="460375"/>
              <a:ext cx="9880600" cy="296029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501"/>
                </a:lnSpc>
              </a:pPr>
              <a:r>
                <a:rPr lang="en-US" sz="1725" dirty="0">
                  <a:solidFill>
                    <a:srgbClr val="F0F6F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{</a:t>
              </a:r>
            </a:p>
            <a:p>
              <a:pPr algn="l">
                <a:lnSpc>
                  <a:spcPts val="2501"/>
                </a:lnSpc>
              </a:pPr>
              <a:r>
                <a:rPr lang="en-US" sz="1725" dirty="0">
                  <a:solidFill>
                    <a:srgbClr val="F0F6F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"</a:t>
              </a:r>
              <a:r>
                <a:rPr lang="en-US" sz="1725" dirty="0" err="1">
                  <a:solidFill>
                    <a:srgbClr val="F0F6F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bug_id</a:t>
              </a:r>
              <a:r>
                <a:rPr lang="en-US" sz="1725" dirty="0">
                  <a:solidFill>
                    <a:srgbClr val="F0F6F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": "BUG-001",</a:t>
              </a:r>
            </a:p>
            <a:p>
              <a:pPr algn="l">
                <a:lnSpc>
                  <a:spcPts val="2501"/>
                </a:lnSpc>
              </a:pPr>
              <a:r>
                <a:rPr lang="en-US" sz="1725" dirty="0">
                  <a:solidFill>
                    <a:srgbClr val="F0F6F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"</a:t>
              </a:r>
              <a:r>
                <a:rPr lang="en-US" sz="1725" dirty="0" err="1">
                  <a:solidFill>
                    <a:srgbClr val="F0F6F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affected_file</a:t>
              </a:r>
              <a:r>
                <a:rPr lang="en-US" sz="1725" dirty="0">
                  <a:solidFill>
                    <a:srgbClr val="F0F6F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": “</a:t>
              </a:r>
              <a:r>
                <a:rPr lang="en-US" sz="1725" dirty="0" err="1">
                  <a:solidFill>
                    <a:srgbClr val="F0F6F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src</a:t>
              </a:r>
              <a:r>
                <a:rPr lang="en-US" sz="1725" dirty="0">
                  <a:solidFill>
                    <a:srgbClr val="F0F6F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/services/project_service.py",</a:t>
              </a:r>
            </a:p>
            <a:p>
              <a:pPr algn="l">
                <a:lnSpc>
                  <a:spcPts val="2501"/>
                </a:lnSpc>
              </a:pPr>
              <a:r>
                <a:rPr lang="en-US" sz="1725" dirty="0">
                  <a:solidFill>
                    <a:srgbClr val="F0F6F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"</a:t>
              </a:r>
              <a:r>
                <a:rPr lang="en-US" sz="1725" dirty="0" err="1">
                  <a:solidFill>
                    <a:srgbClr val="F0F6F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affected_function</a:t>
              </a:r>
              <a:r>
                <a:rPr lang="en-US" sz="1725" dirty="0">
                  <a:solidFill>
                    <a:srgbClr val="F0F6F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": “</a:t>
              </a:r>
              <a:r>
                <a:rPr lang="en-US" sz="1725" dirty="0" err="1">
                  <a:solidFill>
                    <a:srgbClr val="F0F6F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get_progress</a:t>
              </a:r>
              <a:r>
                <a:rPr lang="en-US" sz="1725" dirty="0">
                  <a:solidFill>
                    <a:srgbClr val="F0F6F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()",</a:t>
              </a:r>
            </a:p>
            <a:p>
              <a:pPr algn="l">
                <a:lnSpc>
                  <a:spcPts val="2501"/>
                </a:lnSpc>
              </a:pPr>
              <a:r>
                <a:rPr lang="en-US" sz="1725" dirty="0">
                  <a:solidFill>
                    <a:srgbClr val="F0F6F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"severity": “high",</a:t>
              </a:r>
            </a:p>
            <a:p>
              <a:pPr algn="l">
                <a:lnSpc>
                  <a:spcPts val="2501"/>
                </a:lnSpc>
              </a:pPr>
              <a:r>
                <a:rPr lang="en-US" sz="1725" dirty="0">
                  <a:solidFill>
                    <a:srgbClr val="F0F6F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"status": “fixed"</a:t>
              </a:r>
            </a:p>
            <a:p>
              <a:pPr algn="l">
                <a:lnSpc>
                  <a:spcPts val="2501"/>
                </a:lnSpc>
              </a:pPr>
              <a:r>
                <a:rPr lang="en-US" sz="1725" dirty="0">
                  <a:solidFill>
                    <a:srgbClr val="F0F6F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}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9810750" y="6248400"/>
            <a:ext cx="7048500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00">
                <a:solidFill>
                  <a:srgbClr val="8B949E"/>
                </a:solidFill>
                <a:latin typeface="IBM Plex Mono"/>
                <a:ea typeface="IBM Plex Mono"/>
                <a:cs typeface="IBM Plex Mono"/>
                <a:sym typeface="IBM Plex Mono"/>
              </a:rPr>
              <a:t>FIELDS  bug_id · title · description · expected_behavior · actual_behavior · affected_area · affected_file · affected_function · severity · status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14400" y="8534400"/>
            <a:ext cx="164592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3FB950"/>
                </a:solidFill>
                <a:latin typeface="IBM Plex Sans"/>
                <a:ea typeface="IBM Plex Sans"/>
                <a:cs typeface="IBM Plex Sans"/>
                <a:sym typeface="IBM Plex Sans"/>
              </a:rPr>
              <a:t>All records are synthetic and team-created. No personal, confidential, client, social-media or private data is used.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14400" y="1866900"/>
            <a:ext cx="16459200" cy="0"/>
          </a:xfrm>
          <a:prstGeom prst="line">
            <a:avLst/>
          </a:prstGeom>
          <a:ln w="9525" cap="flat">
            <a:solidFill>
              <a:srgbClr val="30363D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914400" y="2201437"/>
            <a:ext cx="16459200" cy="704850"/>
            <a:chOff x="0" y="0"/>
            <a:chExt cx="21945600" cy="939800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3467100" cy="939800"/>
              <a:chOff x="0" y="0"/>
              <a:chExt cx="3467100" cy="9398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3467100" cy="939800"/>
              </a:xfrm>
              <a:custGeom>
                <a:avLst/>
                <a:gdLst/>
                <a:ahLst/>
                <a:cxnLst/>
                <a:rect l="l" t="t" r="r" b="b"/>
                <a:pathLst>
                  <a:path w="3467100" h="939800">
                    <a:moveTo>
                      <a:pt x="37216" y="0"/>
                    </a:moveTo>
                    <a:lnTo>
                      <a:pt x="3429884" y="0"/>
                    </a:lnTo>
                    <a:cubicBezTo>
                      <a:pt x="3439754" y="0"/>
                      <a:pt x="3449220" y="3921"/>
                      <a:pt x="3456200" y="10900"/>
                    </a:cubicBezTo>
                    <a:cubicBezTo>
                      <a:pt x="3463179" y="17880"/>
                      <a:pt x="3467100" y="27346"/>
                      <a:pt x="3467100" y="37216"/>
                    </a:cubicBezTo>
                    <a:lnTo>
                      <a:pt x="3467100" y="902584"/>
                    </a:lnTo>
                    <a:cubicBezTo>
                      <a:pt x="3467100" y="912454"/>
                      <a:pt x="3463179" y="921920"/>
                      <a:pt x="3456200" y="928900"/>
                    </a:cubicBezTo>
                    <a:cubicBezTo>
                      <a:pt x="3449220" y="935879"/>
                      <a:pt x="3439754" y="939800"/>
                      <a:pt x="3429884" y="939800"/>
                    </a:cubicBezTo>
                    <a:lnTo>
                      <a:pt x="37216" y="939800"/>
                    </a:lnTo>
                    <a:cubicBezTo>
                      <a:pt x="27346" y="939800"/>
                      <a:pt x="17880" y="935879"/>
                      <a:pt x="10900" y="928900"/>
                    </a:cubicBezTo>
                    <a:cubicBezTo>
                      <a:pt x="3921" y="921920"/>
                      <a:pt x="0" y="912454"/>
                      <a:pt x="0" y="902584"/>
                    </a:cubicBezTo>
                    <a:lnTo>
                      <a:pt x="0" y="37216"/>
                    </a:lnTo>
                    <a:cubicBezTo>
                      <a:pt x="0" y="27346"/>
                      <a:pt x="3921" y="17880"/>
                      <a:pt x="10900" y="10900"/>
                    </a:cubicBezTo>
                    <a:cubicBezTo>
                      <a:pt x="17880" y="3921"/>
                      <a:pt x="27346" y="0"/>
                      <a:pt x="37216" y="0"/>
                    </a:cubicBezTo>
                    <a:close/>
                  </a:path>
                </a:pathLst>
              </a:custGeom>
              <a:solidFill>
                <a:srgbClr val="161B22"/>
              </a:solidFill>
              <a:ln w="9525" cap="sq">
                <a:solidFill>
                  <a:srgbClr val="30363D"/>
                </a:solidFill>
                <a:prstDash val="solid"/>
                <a:miter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28575"/>
                <a:ext cx="3467100" cy="9683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95"/>
                  </a:lnSpc>
                </a:pPr>
                <a:r>
                  <a:rPr lang="en-US" sz="1425" b="1">
                    <a:solidFill>
                      <a:srgbClr val="F0F6FC"/>
                    </a:solidFill>
                    <a:latin typeface="IBM Plex Mono Bold"/>
                    <a:ea typeface="IBM Plex Mono Bold"/>
                    <a:cs typeface="IBM Plex Mono Bold"/>
                    <a:sym typeface="IBM Plex Mono Bold"/>
                  </a:rPr>
                  <a:t>BUG REPORT</a:t>
                </a:r>
              </a:p>
            </p:txBody>
          </p:sp>
        </p:grpSp>
        <p:sp>
          <p:nvSpPr>
            <p:cNvPr id="7" name="AutoShape 7"/>
            <p:cNvSpPr/>
            <p:nvPr/>
          </p:nvSpPr>
          <p:spPr>
            <a:xfrm>
              <a:off x="3467100" y="469900"/>
              <a:ext cx="228600" cy="0"/>
            </a:xfrm>
            <a:prstGeom prst="line">
              <a:avLst/>
            </a:prstGeom>
            <a:ln w="25400" cap="flat">
              <a:solidFill>
                <a:srgbClr val="2F81F7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8" name="Group 8"/>
            <p:cNvGrpSpPr/>
            <p:nvPr/>
          </p:nvGrpSpPr>
          <p:grpSpPr>
            <a:xfrm>
              <a:off x="3695700" y="0"/>
              <a:ext cx="3467100" cy="939800"/>
              <a:chOff x="0" y="0"/>
              <a:chExt cx="3467100" cy="9398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3467100" cy="939800"/>
              </a:xfrm>
              <a:custGeom>
                <a:avLst/>
                <a:gdLst/>
                <a:ahLst/>
                <a:cxnLst/>
                <a:rect l="l" t="t" r="r" b="b"/>
                <a:pathLst>
                  <a:path w="3467100" h="939800">
                    <a:moveTo>
                      <a:pt x="37216" y="0"/>
                    </a:moveTo>
                    <a:lnTo>
                      <a:pt x="3429884" y="0"/>
                    </a:lnTo>
                    <a:cubicBezTo>
                      <a:pt x="3439754" y="0"/>
                      <a:pt x="3449220" y="3921"/>
                      <a:pt x="3456200" y="10900"/>
                    </a:cubicBezTo>
                    <a:cubicBezTo>
                      <a:pt x="3463179" y="17880"/>
                      <a:pt x="3467100" y="27346"/>
                      <a:pt x="3467100" y="37216"/>
                    </a:cubicBezTo>
                    <a:lnTo>
                      <a:pt x="3467100" y="902584"/>
                    </a:lnTo>
                    <a:cubicBezTo>
                      <a:pt x="3467100" y="912454"/>
                      <a:pt x="3463179" y="921920"/>
                      <a:pt x="3456200" y="928900"/>
                    </a:cubicBezTo>
                    <a:cubicBezTo>
                      <a:pt x="3449220" y="935879"/>
                      <a:pt x="3439754" y="939800"/>
                      <a:pt x="3429884" y="939800"/>
                    </a:cubicBezTo>
                    <a:lnTo>
                      <a:pt x="37216" y="939800"/>
                    </a:lnTo>
                    <a:cubicBezTo>
                      <a:pt x="27346" y="939800"/>
                      <a:pt x="17880" y="935879"/>
                      <a:pt x="10900" y="928900"/>
                    </a:cubicBezTo>
                    <a:cubicBezTo>
                      <a:pt x="3921" y="921920"/>
                      <a:pt x="0" y="912454"/>
                      <a:pt x="0" y="902584"/>
                    </a:cubicBezTo>
                    <a:lnTo>
                      <a:pt x="0" y="37216"/>
                    </a:lnTo>
                    <a:cubicBezTo>
                      <a:pt x="0" y="27346"/>
                      <a:pt x="3921" y="17880"/>
                      <a:pt x="10900" y="10900"/>
                    </a:cubicBezTo>
                    <a:cubicBezTo>
                      <a:pt x="17880" y="3921"/>
                      <a:pt x="27346" y="0"/>
                      <a:pt x="37216" y="0"/>
                    </a:cubicBezTo>
                    <a:close/>
                  </a:path>
                </a:pathLst>
              </a:custGeom>
              <a:solidFill>
                <a:srgbClr val="161B22"/>
              </a:solidFill>
              <a:ln w="9525" cap="sq">
                <a:solidFill>
                  <a:srgbClr val="30363D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28575"/>
                <a:ext cx="3467100" cy="9683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95"/>
                  </a:lnSpc>
                </a:pPr>
                <a:r>
                  <a:rPr lang="en-US" sz="1425" b="1">
                    <a:solidFill>
                      <a:srgbClr val="F0F6FC"/>
                    </a:solidFill>
                    <a:latin typeface="IBM Plex Mono Bold"/>
                    <a:ea typeface="IBM Plex Mono Bold"/>
                    <a:cs typeface="IBM Plex Mono Bold"/>
                    <a:sym typeface="IBM Plex Mono Bold"/>
                  </a:rPr>
                  <a:t>AFFECTED FILE</a:t>
                </a:r>
              </a:p>
            </p:txBody>
          </p:sp>
        </p:grpSp>
        <p:sp>
          <p:nvSpPr>
            <p:cNvPr id="11" name="AutoShape 11"/>
            <p:cNvSpPr/>
            <p:nvPr/>
          </p:nvSpPr>
          <p:spPr>
            <a:xfrm>
              <a:off x="7162800" y="469900"/>
              <a:ext cx="228600" cy="0"/>
            </a:xfrm>
            <a:prstGeom prst="line">
              <a:avLst/>
            </a:prstGeom>
            <a:ln w="25400" cap="flat">
              <a:solidFill>
                <a:srgbClr val="2F81F7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7391400" y="0"/>
              <a:ext cx="3467100" cy="939800"/>
              <a:chOff x="0" y="0"/>
              <a:chExt cx="3467100" cy="939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3467100" cy="939800"/>
              </a:xfrm>
              <a:custGeom>
                <a:avLst/>
                <a:gdLst/>
                <a:ahLst/>
                <a:cxnLst/>
                <a:rect l="l" t="t" r="r" b="b"/>
                <a:pathLst>
                  <a:path w="3467100" h="939800">
                    <a:moveTo>
                      <a:pt x="37216" y="0"/>
                    </a:moveTo>
                    <a:lnTo>
                      <a:pt x="3429884" y="0"/>
                    </a:lnTo>
                    <a:cubicBezTo>
                      <a:pt x="3439754" y="0"/>
                      <a:pt x="3449220" y="3921"/>
                      <a:pt x="3456200" y="10900"/>
                    </a:cubicBezTo>
                    <a:cubicBezTo>
                      <a:pt x="3463179" y="17880"/>
                      <a:pt x="3467100" y="27346"/>
                      <a:pt x="3467100" y="37216"/>
                    </a:cubicBezTo>
                    <a:lnTo>
                      <a:pt x="3467100" y="902584"/>
                    </a:lnTo>
                    <a:cubicBezTo>
                      <a:pt x="3467100" y="912454"/>
                      <a:pt x="3463179" y="921920"/>
                      <a:pt x="3456200" y="928900"/>
                    </a:cubicBezTo>
                    <a:cubicBezTo>
                      <a:pt x="3449220" y="935879"/>
                      <a:pt x="3439754" y="939800"/>
                      <a:pt x="3429884" y="939800"/>
                    </a:cubicBezTo>
                    <a:lnTo>
                      <a:pt x="37216" y="939800"/>
                    </a:lnTo>
                    <a:cubicBezTo>
                      <a:pt x="27346" y="939800"/>
                      <a:pt x="17880" y="935879"/>
                      <a:pt x="10900" y="928900"/>
                    </a:cubicBezTo>
                    <a:cubicBezTo>
                      <a:pt x="3921" y="921920"/>
                      <a:pt x="0" y="912454"/>
                      <a:pt x="0" y="902584"/>
                    </a:cubicBezTo>
                    <a:lnTo>
                      <a:pt x="0" y="37216"/>
                    </a:lnTo>
                    <a:cubicBezTo>
                      <a:pt x="0" y="27346"/>
                      <a:pt x="3921" y="17880"/>
                      <a:pt x="10900" y="10900"/>
                    </a:cubicBezTo>
                    <a:cubicBezTo>
                      <a:pt x="17880" y="3921"/>
                      <a:pt x="27346" y="0"/>
                      <a:pt x="37216" y="0"/>
                    </a:cubicBezTo>
                    <a:close/>
                  </a:path>
                </a:pathLst>
              </a:custGeom>
              <a:solidFill>
                <a:srgbClr val="161B22"/>
              </a:solidFill>
              <a:ln w="9525" cap="sq">
                <a:solidFill>
                  <a:srgbClr val="30363D"/>
                </a:solidFill>
                <a:prstDash val="solid"/>
                <a:miter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28575"/>
                <a:ext cx="3467100" cy="9683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95"/>
                  </a:lnSpc>
                </a:pPr>
                <a:r>
                  <a:rPr lang="en-US" sz="1425" b="1">
                    <a:solidFill>
                      <a:srgbClr val="F0F6FC"/>
                    </a:solidFill>
                    <a:latin typeface="IBM Plex Mono Bold"/>
                    <a:ea typeface="IBM Plex Mono Bold"/>
                    <a:cs typeface="IBM Plex Mono Bold"/>
                    <a:sym typeface="IBM Plex Mono Bold"/>
                  </a:rPr>
                  <a:t>BOB SESSION</a:t>
                </a:r>
              </a:p>
            </p:txBody>
          </p:sp>
        </p:grpSp>
        <p:sp>
          <p:nvSpPr>
            <p:cNvPr id="15" name="AutoShape 15"/>
            <p:cNvSpPr/>
            <p:nvPr/>
          </p:nvSpPr>
          <p:spPr>
            <a:xfrm>
              <a:off x="10858500" y="469900"/>
              <a:ext cx="228600" cy="0"/>
            </a:xfrm>
            <a:prstGeom prst="line">
              <a:avLst/>
            </a:prstGeom>
            <a:ln w="25400" cap="flat">
              <a:solidFill>
                <a:srgbClr val="2F81F7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11087100" y="0"/>
              <a:ext cx="3467100" cy="939800"/>
              <a:chOff x="0" y="0"/>
              <a:chExt cx="3467100" cy="9398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3467100" cy="939800"/>
              </a:xfrm>
              <a:custGeom>
                <a:avLst/>
                <a:gdLst/>
                <a:ahLst/>
                <a:cxnLst/>
                <a:rect l="l" t="t" r="r" b="b"/>
                <a:pathLst>
                  <a:path w="3467100" h="939800">
                    <a:moveTo>
                      <a:pt x="37216" y="0"/>
                    </a:moveTo>
                    <a:lnTo>
                      <a:pt x="3429884" y="0"/>
                    </a:lnTo>
                    <a:cubicBezTo>
                      <a:pt x="3439754" y="0"/>
                      <a:pt x="3449220" y="3921"/>
                      <a:pt x="3456200" y="10900"/>
                    </a:cubicBezTo>
                    <a:cubicBezTo>
                      <a:pt x="3463179" y="17880"/>
                      <a:pt x="3467100" y="27346"/>
                      <a:pt x="3467100" y="37216"/>
                    </a:cubicBezTo>
                    <a:lnTo>
                      <a:pt x="3467100" y="902584"/>
                    </a:lnTo>
                    <a:cubicBezTo>
                      <a:pt x="3467100" y="912454"/>
                      <a:pt x="3463179" y="921920"/>
                      <a:pt x="3456200" y="928900"/>
                    </a:cubicBezTo>
                    <a:cubicBezTo>
                      <a:pt x="3449220" y="935879"/>
                      <a:pt x="3439754" y="939800"/>
                      <a:pt x="3429884" y="939800"/>
                    </a:cubicBezTo>
                    <a:lnTo>
                      <a:pt x="37216" y="939800"/>
                    </a:lnTo>
                    <a:cubicBezTo>
                      <a:pt x="27346" y="939800"/>
                      <a:pt x="17880" y="935879"/>
                      <a:pt x="10900" y="928900"/>
                    </a:cubicBezTo>
                    <a:cubicBezTo>
                      <a:pt x="3921" y="921920"/>
                      <a:pt x="0" y="912454"/>
                      <a:pt x="0" y="902584"/>
                    </a:cubicBezTo>
                    <a:lnTo>
                      <a:pt x="0" y="37216"/>
                    </a:lnTo>
                    <a:cubicBezTo>
                      <a:pt x="0" y="27346"/>
                      <a:pt x="3921" y="17880"/>
                      <a:pt x="10900" y="10900"/>
                    </a:cubicBezTo>
                    <a:cubicBezTo>
                      <a:pt x="17880" y="3921"/>
                      <a:pt x="27346" y="0"/>
                      <a:pt x="37216" y="0"/>
                    </a:cubicBezTo>
                    <a:close/>
                  </a:path>
                </a:pathLst>
              </a:custGeom>
              <a:solidFill>
                <a:srgbClr val="161B22"/>
              </a:solidFill>
              <a:ln w="9525" cap="sq">
                <a:solidFill>
                  <a:srgbClr val="30363D"/>
                </a:solidFill>
                <a:prstDash val="solid"/>
                <a:miter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28575"/>
                <a:ext cx="3467100" cy="9683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95"/>
                  </a:lnSpc>
                </a:pPr>
                <a:r>
                  <a:rPr lang="en-US" sz="1425" b="1">
                    <a:solidFill>
                      <a:srgbClr val="F0F6FC"/>
                    </a:solidFill>
                    <a:latin typeface="IBM Plex Mono Bold"/>
                    <a:ea typeface="IBM Plex Mono Bold"/>
                    <a:cs typeface="IBM Plex Mono Bold"/>
                    <a:sym typeface="IBM Plex Mono Bold"/>
                  </a:rPr>
                  <a:t>GIT CHANGE</a:t>
                </a:r>
              </a:p>
            </p:txBody>
          </p:sp>
        </p:grpSp>
        <p:sp>
          <p:nvSpPr>
            <p:cNvPr id="19" name="AutoShape 19"/>
            <p:cNvSpPr/>
            <p:nvPr/>
          </p:nvSpPr>
          <p:spPr>
            <a:xfrm>
              <a:off x="14554200" y="469900"/>
              <a:ext cx="228600" cy="0"/>
            </a:xfrm>
            <a:prstGeom prst="line">
              <a:avLst/>
            </a:prstGeom>
            <a:ln w="25400" cap="flat">
              <a:solidFill>
                <a:srgbClr val="2F81F7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14782800" y="0"/>
              <a:ext cx="3467100" cy="939800"/>
              <a:chOff x="0" y="0"/>
              <a:chExt cx="3467100" cy="9398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3467100" cy="939800"/>
              </a:xfrm>
              <a:custGeom>
                <a:avLst/>
                <a:gdLst/>
                <a:ahLst/>
                <a:cxnLst/>
                <a:rect l="l" t="t" r="r" b="b"/>
                <a:pathLst>
                  <a:path w="3467100" h="939800">
                    <a:moveTo>
                      <a:pt x="37216" y="0"/>
                    </a:moveTo>
                    <a:lnTo>
                      <a:pt x="3429884" y="0"/>
                    </a:lnTo>
                    <a:cubicBezTo>
                      <a:pt x="3439754" y="0"/>
                      <a:pt x="3449220" y="3921"/>
                      <a:pt x="3456200" y="10900"/>
                    </a:cubicBezTo>
                    <a:cubicBezTo>
                      <a:pt x="3463179" y="17880"/>
                      <a:pt x="3467100" y="27346"/>
                      <a:pt x="3467100" y="37216"/>
                    </a:cubicBezTo>
                    <a:lnTo>
                      <a:pt x="3467100" y="902584"/>
                    </a:lnTo>
                    <a:cubicBezTo>
                      <a:pt x="3467100" y="912454"/>
                      <a:pt x="3463179" y="921920"/>
                      <a:pt x="3456200" y="928900"/>
                    </a:cubicBezTo>
                    <a:cubicBezTo>
                      <a:pt x="3449220" y="935879"/>
                      <a:pt x="3439754" y="939800"/>
                      <a:pt x="3429884" y="939800"/>
                    </a:cubicBezTo>
                    <a:lnTo>
                      <a:pt x="37216" y="939800"/>
                    </a:lnTo>
                    <a:cubicBezTo>
                      <a:pt x="27346" y="939800"/>
                      <a:pt x="17880" y="935879"/>
                      <a:pt x="10900" y="928900"/>
                    </a:cubicBezTo>
                    <a:cubicBezTo>
                      <a:pt x="3921" y="921920"/>
                      <a:pt x="0" y="912454"/>
                      <a:pt x="0" y="902584"/>
                    </a:cubicBezTo>
                    <a:lnTo>
                      <a:pt x="0" y="37216"/>
                    </a:lnTo>
                    <a:cubicBezTo>
                      <a:pt x="0" y="27346"/>
                      <a:pt x="3921" y="17880"/>
                      <a:pt x="10900" y="10900"/>
                    </a:cubicBezTo>
                    <a:cubicBezTo>
                      <a:pt x="17880" y="3921"/>
                      <a:pt x="27346" y="0"/>
                      <a:pt x="37216" y="0"/>
                    </a:cubicBezTo>
                    <a:close/>
                  </a:path>
                </a:pathLst>
              </a:custGeom>
              <a:solidFill>
                <a:srgbClr val="161B22"/>
              </a:solidFill>
              <a:ln w="9525" cap="sq">
                <a:solidFill>
                  <a:srgbClr val="30363D"/>
                </a:solidFill>
                <a:prstDash val="solid"/>
                <a:miter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0" y="-28575"/>
                <a:ext cx="3467100" cy="9683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95"/>
                  </a:lnSpc>
                </a:pPr>
                <a:r>
                  <a:rPr lang="en-US" sz="1425" b="1">
                    <a:solidFill>
                      <a:srgbClr val="F0F6FC"/>
                    </a:solidFill>
                    <a:latin typeface="IBM Plex Mono Bold"/>
                    <a:ea typeface="IBM Plex Mono Bold"/>
                    <a:cs typeface="IBM Plex Mono Bold"/>
                    <a:sym typeface="IBM Plex Mono Bold"/>
                  </a:rPr>
                  <a:t>REGRESSION TEST</a:t>
                </a:r>
              </a:p>
            </p:txBody>
          </p:sp>
        </p:grpSp>
        <p:sp>
          <p:nvSpPr>
            <p:cNvPr id="23" name="AutoShape 23"/>
            <p:cNvSpPr/>
            <p:nvPr/>
          </p:nvSpPr>
          <p:spPr>
            <a:xfrm>
              <a:off x="18249900" y="469900"/>
              <a:ext cx="228600" cy="0"/>
            </a:xfrm>
            <a:prstGeom prst="line">
              <a:avLst/>
            </a:prstGeom>
            <a:ln w="25400" cap="flat">
              <a:solidFill>
                <a:srgbClr val="2F81F7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18478500" y="0"/>
              <a:ext cx="3467100" cy="939800"/>
              <a:chOff x="0" y="0"/>
              <a:chExt cx="3467100" cy="9398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3467100" cy="939800"/>
              </a:xfrm>
              <a:custGeom>
                <a:avLst/>
                <a:gdLst/>
                <a:ahLst/>
                <a:cxnLst/>
                <a:rect l="l" t="t" r="r" b="b"/>
                <a:pathLst>
                  <a:path w="3467100" h="939800">
                    <a:moveTo>
                      <a:pt x="37216" y="0"/>
                    </a:moveTo>
                    <a:lnTo>
                      <a:pt x="3429884" y="0"/>
                    </a:lnTo>
                    <a:cubicBezTo>
                      <a:pt x="3439754" y="0"/>
                      <a:pt x="3449220" y="3921"/>
                      <a:pt x="3456200" y="10900"/>
                    </a:cubicBezTo>
                    <a:cubicBezTo>
                      <a:pt x="3463179" y="17880"/>
                      <a:pt x="3467100" y="27346"/>
                      <a:pt x="3467100" y="37216"/>
                    </a:cubicBezTo>
                    <a:lnTo>
                      <a:pt x="3467100" y="902584"/>
                    </a:lnTo>
                    <a:cubicBezTo>
                      <a:pt x="3467100" y="912454"/>
                      <a:pt x="3463179" y="921920"/>
                      <a:pt x="3456200" y="928900"/>
                    </a:cubicBezTo>
                    <a:cubicBezTo>
                      <a:pt x="3449220" y="935879"/>
                      <a:pt x="3439754" y="939800"/>
                      <a:pt x="3429884" y="939800"/>
                    </a:cubicBezTo>
                    <a:lnTo>
                      <a:pt x="37216" y="939800"/>
                    </a:lnTo>
                    <a:cubicBezTo>
                      <a:pt x="27346" y="939800"/>
                      <a:pt x="17880" y="935879"/>
                      <a:pt x="10900" y="928900"/>
                    </a:cubicBezTo>
                    <a:cubicBezTo>
                      <a:pt x="3921" y="921920"/>
                      <a:pt x="0" y="912454"/>
                      <a:pt x="0" y="902584"/>
                    </a:cubicBezTo>
                    <a:lnTo>
                      <a:pt x="0" y="37216"/>
                    </a:lnTo>
                    <a:cubicBezTo>
                      <a:pt x="0" y="27346"/>
                      <a:pt x="3921" y="17880"/>
                      <a:pt x="10900" y="10900"/>
                    </a:cubicBezTo>
                    <a:cubicBezTo>
                      <a:pt x="17880" y="3921"/>
                      <a:pt x="27346" y="0"/>
                      <a:pt x="37216" y="0"/>
                    </a:cubicBezTo>
                    <a:close/>
                  </a:path>
                </a:pathLst>
              </a:custGeom>
              <a:solidFill>
                <a:srgbClr val="21262D"/>
              </a:solidFill>
              <a:ln w="9525" cap="sq">
                <a:solidFill>
                  <a:srgbClr val="30363D"/>
                </a:solidFill>
                <a:prstDash val="solid"/>
                <a:miter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0" y="-28575"/>
                <a:ext cx="3467100" cy="9683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95"/>
                  </a:lnSpc>
                </a:pPr>
                <a:r>
                  <a:rPr lang="en-US" sz="1425" b="1">
                    <a:solidFill>
                      <a:srgbClr val="F0F6FC"/>
                    </a:solidFill>
                    <a:latin typeface="IBM Plex Mono Bold"/>
                    <a:ea typeface="IBM Plex Mono Bold"/>
                    <a:cs typeface="IBM Plex Mono Bold"/>
                    <a:sym typeface="IBM Plex Mono Bold"/>
                  </a:rPr>
                  <a:t>VERIFICATION</a:t>
                </a:r>
              </a:p>
            </p:txBody>
          </p:sp>
        </p:grpSp>
      </p:grpSp>
      <p:sp>
        <p:nvSpPr>
          <p:cNvPr id="27" name="Freeform 27"/>
          <p:cNvSpPr/>
          <p:nvPr/>
        </p:nvSpPr>
        <p:spPr>
          <a:xfrm>
            <a:off x="1079099" y="3236061"/>
            <a:ext cx="16675501" cy="6338975"/>
          </a:xfrm>
          <a:custGeom>
            <a:avLst/>
            <a:gdLst/>
            <a:ahLst/>
            <a:cxnLst/>
            <a:rect l="l" t="t" r="r" b="b"/>
            <a:pathLst>
              <a:path w="16675501" h="6338975">
                <a:moveTo>
                  <a:pt x="0" y="0"/>
                </a:moveTo>
                <a:lnTo>
                  <a:pt x="16675501" y="0"/>
                </a:lnTo>
                <a:lnTo>
                  <a:pt x="16675501" y="6338975"/>
                </a:lnTo>
                <a:lnTo>
                  <a:pt x="0" y="63389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914400" y="523875"/>
            <a:ext cx="8572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08">
                <a:solidFill>
                  <a:srgbClr val="2F81F7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TRACEABILITY &amp; REPRODUCIBILITY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14400" y="1028700"/>
            <a:ext cx="14763750" cy="653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 b="1">
                <a:solidFill>
                  <a:srgbClr val="F0F6FC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Every Development Step Leaves Evidence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6573500" y="581025"/>
            <a:ext cx="85725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b="1" spc="108">
                <a:solidFill>
                  <a:srgbClr val="2F81F7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10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095500" y="9536936"/>
            <a:ext cx="14097000" cy="421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9"/>
              </a:lnSpc>
            </a:pPr>
            <a:r>
              <a:rPr lang="en-US" sz="2550" b="1">
                <a:solidFill>
                  <a:srgbClr val="F0F6FC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CodePilot makes debugging inspectable and reproducible—not an unexplained final answer.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23875"/>
            <a:ext cx="8572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08">
                <a:solidFill>
                  <a:srgbClr val="2F81F7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MEASURED ON THE CURRENT PROTOTYPE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1028700"/>
            <a:ext cx="14763750" cy="653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 b="1">
                <a:solidFill>
                  <a:srgbClr val="F0F6FC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What We Demonstrated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573500" y="581025"/>
            <a:ext cx="85725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b="1" spc="108">
                <a:solidFill>
                  <a:srgbClr val="2F81F7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11</a:t>
            </a:r>
          </a:p>
        </p:txBody>
      </p:sp>
      <p:sp>
        <p:nvSpPr>
          <p:cNvPr id="5" name="AutoShape 5"/>
          <p:cNvSpPr/>
          <p:nvPr/>
        </p:nvSpPr>
        <p:spPr>
          <a:xfrm>
            <a:off x="914400" y="1866900"/>
            <a:ext cx="16459200" cy="0"/>
          </a:xfrm>
          <a:prstGeom prst="line">
            <a:avLst/>
          </a:prstGeom>
          <a:ln w="9525" cap="flat">
            <a:solidFill>
              <a:srgbClr val="30363D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>
            <a:off x="914400" y="2571750"/>
            <a:ext cx="2762250" cy="2381250"/>
            <a:chOff x="0" y="0"/>
            <a:chExt cx="3683000" cy="3175000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3683000" cy="3175000"/>
              <a:chOff x="0" y="0"/>
              <a:chExt cx="3683000" cy="31750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3683000" cy="3175000"/>
              </a:xfrm>
              <a:custGeom>
                <a:avLst/>
                <a:gdLst/>
                <a:ahLst/>
                <a:cxnLst/>
                <a:rect l="l" t="t" r="r" b="b"/>
                <a:pathLst>
                  <a:path w="3683000" h="3175000">
                    <a:moveTo>
                      <a:pt x="0" y="0"/>
                    </a:moveTo>
                    <a:lnTo>
                      <a:pt x="3683000" y="0"/>
                    </a:lnTo>
                    <a:lnTo>
                      <a:pt x="3683000" y="3175000"/>
                    </a:lnTo>
                    <a:lnTo>
                      <a:pt x="0" y="3175000"/>
                    </a:lnTo>
                    <a:close/>
                  </a:path>
                </a:pathLst>
              </a:custGeom>
              <a:solidFill>
                <a:srgbClr val="161B22"/>
              </a:solidFill>
              <a:ln w="9525" cap="sq">
                <a:solidFill>
                  <a:srgbClr val="30363D"/>
                </a:solidFill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3683000" cy="3213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0" y="374650"/>
              <a:ext cx="3683000" cy="15252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660"/>
                </a:lnSpc>
              </a:pPr>
              <a:r>
                <a:rPr lang="en-US" sz="6900" b="1">
                  <a:solidFill>
                    <a:srgbClr val="F0F6FC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3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2003425"/>
              <a:ext cx="3683000" cy="300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sz="1350">
                  <a:solidFill>
                    <a:srgbClr val="8B949E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DEBUGGING SCENARIOS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200525" y="2571750"/>
            <a:ext cx="2762250" cy="2381250"/>
            <a:chOff x="0" y="0"/>
            <a:chExt cx="3683000" cy="3175000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3683000" cy="3175000"/>
              <a:chOff x="0" y="0"/>
              <a:chExt cx="3683000" cy="31750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3683000" cy="3175000"/>
              </a:xfrm>
              <a:custGeom>
                <a:avLst/>
                <a:gdLst/>
                <a:ahLst/>
                <a:cxnLst/>
                <a:rect l="l" t="t" r="r" b="b"/>
                <a:pathLst>
                  <a:path w="3683000" h="3175000">
                    <a:moveTo>
                      <a:pt x="0" y="0"/>
                    </a:moveTo>
                    <a:lnTo>
                      <a:pt x="3683000" y="0"/>
                    </a:lnTo>
                    <a:lnTo>
                      <a:pt x="3683000" y="3175000"/>
                    </a:lnTo>
                    <a:lnTo>
                      <a:pt x="0" y="3175000"/>
                    </a:lnTo>
                    <a:close/>
                  </a:path>
                </a:pathLst>
              </a:custGeom>
              <a:solidFill>
                <a:srgbClr val="161B22"/>
              </a:solidFill>
              <a:ln w="9525" cap="sq">
                <a:solidFill>
                  <a:srgbClr val="30363D"/>
                </a:solidFill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3683000" cy="3213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0" y="374650"/>
              <a:ext cx="3683000" cy="15252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660"/>
                </a:lnSpc>
              </a:pPr>
              <a:r>
                <a:rPr lang="en-US" sz="6900" b="1">
                  <a:solidFill>
                    <a:srgbClr val="F0F6FC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10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2012950"/>
              <a:ext cx="3683000" cy="2679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</a:pPr>
              <a:r>
                <a:rPr lang="en-US" sz="1275">
                  <a:solidFill>
                    <a:srgbClr val="8B949E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ADDITIONAL REGRESSION TESTS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486650" y="2571750"/>
            <a:ext cx="2762250" cy="2381250"/>
            <a:chOff x="0" y="0"/>
            <a:chExt cx="3683000" cy="3175000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3683000" cy="3175000"/>
              <a:chOff x="0" y="0"/>
              <a:chExt cx="3683000" cy="31750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3683000" cy="3175000"/>
              </a:xfrm>
              <a:custGeom>
                <a:avLst/>
                <a:gdLst/>
                <a:ahLst/>
                <a:cxnLst/>
                <a:rect l="l" t="t" r="r" b="b"/>
                <a:pathLst>
                  <a:path w="3683000" h="3175000">
                    <a:moveTo>
                      <a:pt x="0" y="0"/>
                    </a:moveTo>
                    <a:lnTo>
                      <a:pt x="3683000" y="0"/>
                    </a:lnTo>
                    <a:lnTo>
                      <a:pt x="3683000" y="3175000"/>
                    </a:lnTo>
                    <a:lnTo>
                      <a:pt x="0" y="3175000"/>
                    </a:lnTo>
                    <a:close/>
                  </a:path>
                </a:pathLst>
              </a:custGeom>
              <a:solidFill>
                <a:srgbClr val="161B22"/>
              </a:solidFill>
              <a:ln w="9525" cap="sq">
                <a:solidFill>
                  <a:srgbClr val="30363D"/>
                </a:solidFill>
                <a:prstDash val="solid"/>
                <a:miter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3683000" cy="3213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0" y="374650"/>
              <a:ext cx="3683000" cy="15252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660"/>
                </a:lnSpc>
              </a:pPr>
              <a:r>
                <a:rPr lang="en-US" sz="6900" b="1">
                  <a:solidFill>
                    <a:srgbClr val="F0F6FC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41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2003425"/>
              <a:ext cx="3683000" cy="300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sz="1350">
                  <a:solidFill>
                    <a:srgbClr val="8B949E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TOTAL TESTS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0772775" y="2571750"/>
            <a:ext cx="2762250" cy="2381250"/>
            <a:chOff x="0" y="0"/>
            <a:chExt cx="3683000" cy="3175000"/>
          </a:xfrm>
        </p:grpSpPr>
        <p:grpSp>
          <p:nvGrpSpPr>
            <p:cNvPr id="25" name="Group 25"/>
            <p:cNvGrpSpPr/>
            <p:nvPr/>
          </p:nvGrpSpPr>
          <p:grpSpPr>
            <a:xfrm>
              <a:off x="0" y="0"/>
              <a:ext cx="3683000" cy="3175000"/>
              <a:chOff x="0" y="0"/>
              <a:chExt cx="3683000" cy="31750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3683000" cy="3175000"/>
              </a:xfrm>
              <a:custGeom>
                <a:avLst/>
                <a:gdLst/>
                <a:ahLst/>
                <a:cxnLst/>
                <a:rect l="l" t="t" r="r" b="b"/>
                <a:pathLst>
                  <a:path w="3683000" h="3175000">
                    <a:moveTo>
                      <a:pt x="0" y="0"/>
                    </a:moveTo>
                    <a:lnTo>
                      <a:pt x="3683000" y="0"/>
                    </a:lnTo>
                    <a:lnTo>
                      <a:pt x="3683000" y="3175000"/>
                    </a:lnTo>
                    <a:lnTo>
                      <a:pt x="0" y="3175000"/>
                    </a:lnTo>
                    <a:close/>
                  </a:path>
                </a:pathLst>
              </a:custGeom>
              <a:solidFill>
                <a:srgbClr val="161B22"/>
              </a:solidFill>
              <a:ln w="9525" cap="sq">
                <a:solidFill>
                  <a:srgbClr val="30363D"/>
                </a:solidFill>
                <a:prstDash val="solid"/>
                <a:miter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0" y="-38100"/>
                <a:ext cx="3683000" cy="3213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8" name="TextBox 28"/>
            <p:cNvSpPr txBox="1"/>
            <p:nvPr/>
          </p:nvSpPr>
          <p:spPr>
            <a:xfrm>
              <a:off x="0" y="374650"/>
              <a:ext cx="3683000" cy="15252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660"/>
                </a:lnSpc>
              </a:pPr>
              <a:r>
                <a:rPr lang="en-US" sz="6900" b="1">
                  <a:solidFill>
                    <a:srgbClr val="F0F6FC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41/41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2003425"/>
              <a:ext cx="3683000" cy="300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sz="1350">
                  <a:solidFill>
                    <a:srgbClr val="8B949E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PASSING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4058900" y="2571750"/>
            <a:ext cx="2762250" cy="2381250"/>
            <a:chOff x="0" y="0"/>
            <a:chExt cx="3683000" cy="3175000"/>
          </a:xfrm>
        </p:grpSpPr>
        <p:grpSp>
          <p:nvGrpSpPr>
            <p:cNvPr id="31" name="Group 31"/>
            <p:cNvGrpSpPr/>
            <p:nvPr/>
          </p:nvGrpSpPr>
          <p:grpSpPr>
            <a:xfrm>
              <a:off x="0" y="0"/>
              <a:ext cx="3683000" cy="3175000"/>
              <a:chOff x="0" y="0"/>
              <a:chExt cx="3683000" cy="31750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3683000" cy="3175000"/>
              </a:xfrm>
              <a:custGeom>
                <a:avLst/>
                <a:gdLst/>
                <a:ahLst/>
                <a:cxnLst/>
                <a:rect l="l" t="t" r="r" b="b"/>
                <a:pathLst>
                  <a:path w="3683000" h="3175000">
                    <a:moveTo>
                      <a:pt x="0" y="0"/>
                    </a:moveTo>
                    <a:lnTo>
                      <a:pt x="3683000" y="0"/>
                    </a:lnTo>
                    <a:lnTo>
                      <a:pt x="3683000" y="3175000"/>
                    </a:lnTo>
                    <a:lnTo>
                      <a:pt x="0" y="3175000"/>
                    </a:lnTo>
                    <a:close/>
                  </a:path>
                </a:pathLst>
              </a:custGeom>
              <a:solidFill>
                <a:srgbClr val="161B22"/>
              </a:solidFill>
              <a:ln w="9525" cap="sq">
                <a:solidFill>
                  <a:srgbClr val="30363D"/>
                </a:solidFill>
                <a:prstDash val="solid"/>
                <a:miter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0" y="-38100"/>
                <a:ext cx="3683000" cy="3213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4" name="TextBox 34"/>
            <p:cNvSpPr txBox="1"/>
            <p:nvPr/>
          </p:nvSpPr>
          <p:spPr>
            <a:xfrm>
              <a:off x="0" y="374650"/>
              <a:ext cx="3683000" cy="15252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660"/>
                </a:lnSpc>
              </a:pPr>
              <a:r>
                <a:rPr lang="en-US" sz="6900" b="1">
                  <a:solidFill>
                    <a:srgbClr val="3FB95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0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2003425"/>
              <a:ext cx="3683000" cy="300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9"/>
                </a:lnSpc>
              </a:pPr>
              <a:r>
                <a:rPr lang="en-US" sz="1350">
                  <a:solidFill>
                    <a:srgbClr val="8B949E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FAILED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2476500" y="6534150"/>
            <a:ext cx="13335000" cy="299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15"/>
              </a:lnSpc>
            </a:pPr>
            <a:r>
              <a:rPr lang="en-US" sz="1725" b="1">
                <a:solidFill>
                  <a:srgbClr val="F0F6FC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CodePilot connects repository investigation, implementation, regression testing and verification into one developer workflow.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381500" y="8105775"/>
            <a:ext cx="9525000" cy="342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3"/>
              </a:lnSpc>
            </a:pPr>
            <a:r>
              <a:rPr lang="en-US" sz="2025">
                <a:solidFill>
                  <a:srgbClr val="8B949E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Prototype measurements are based on the current TaskFlow API test suite.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23875"/>
            <a:ext cx="8572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08">
                <a:solidFill>
                  <a:srgbClr val="2F81F7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ORIGINALITY &amp; VALUE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1028700"/>
            <a:ext cx="14763750" cy="653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 b="1">
                <a:solidFill>
                  <a:srgbClr val="F0F6FC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Why CodePilot?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573500" y="581025"/>
            <a:ext cx="85725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b="1" spc="108">
                <a:solidFill>
                  <a:srgbClr val="2F81F7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12</a:t>
            </a:r>
          </a:p>
        </p:txBody>
      </p:sp>
      <p:sp>
        <p:nvSpPr>
          <p:cNvPr id="5" name="AutoShape 5"/>
          <p:cNvSpPr/>
          <p:nvPr/>
        </p:nvSpPr>
        <p:spPr>
          <a:xfrm>
            <a:off x="914400" y="1866900"/>
            <a:ext cx="16459200" cy="0"/>
          </a:xfrm>
          <a:prstGeom prst="line">
            <a:avLst/>
          </a:prstGeom>
          <a:ln w="9525" cap="flat">
            <a:solidFill>
              <a:srgbClr val="30363D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>
            <a:off x="914400" y="2476500"/>
            <a:ext cx="5143500" cy="2476500"/>
            <a:chOff x="0" y="0"/>
            <a:chExt cx="6858000" cy="3302000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6858000" cy="3302000"/>
              <a:chOff x="0" y="0"/>
              <a:chExt cx="6858000" cy="33020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6858000" cy="3302000"/>
              </a:xfrm>
              <a:custGeom>
                <a:avLst/>
                <a:gdLst/>
                <a:ahLst/>
                <a:cxnLst/>
                <a:rect l="l" t="t" r="r" b="b"/>
                <a:pathLst>
                  <a:path w="6858000" h="3302000">
                    <a:moveTo>
                      <a:pt x="0" y="0"/>
                    </a:moveTo>
                    <a:lnTo>
                      <a:pt x="6858000" y="0"/>
                    </a:lnTo>
                    <a:lnTo>
                      <a:pt x="6858000" y="3302000"/>
                    </a:lnTo>
                    <a:lnTo>
                      <a:pt x="0" y="3302000"/>
                    </a:lnTo>
                    <a:close/>
                  </a:path>
                </a:pathLst>
              </a:custGeom>
              <a:solidFill>
                <a:srgbClr val="161B22"/>
              </a:solidFill>
              <a:ln w="9525" cap="sq">
                <a:solidFill>
                  <a:srgbClr val="30363D"/>
                </a:solidFill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6858000" cy="3340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304800" y="469900"/>
              <a:ext cx="6096000" cy="3860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1725" b="1">
                  <a:solidFill>
                    <a:srgbClr val="2F81F7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STRUCTURED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04800" y="1358900"/>
              <a:ext cx="6096000" cy="9010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8B949E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Turns an unstructured bug report into a traceable workflow.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438900" y="2476500"/>
            <a:ext cx="5143500" cy="2476500"/>
            <a:chOff x="0" y="0"/>
            <a:chExt cx="6858000" cy="3302000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6858000" cy="3302000"/>
              <a:chOff x="0" y="0"/>
              <a:chExt cx="6858000" cy="33020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6858000" cy="3302000"/>
              </a:xfrm>
              <a:custGeom>
                <a:avLst/>
                <a:gdLst/>
                <a:ahLst/>
                <a:cxnLst/>
                <a:rect l="l" t="t" r="r" b="b"/>
                <a:pathLst>
                  <a:path w="6858000" h="3302000">
                    <a:moveTo>
                      <a:pt x="0" y="0"/>
                    </a:moveTo>
                    <a:lnTo>
                      <a:pt x="6858000" y="0"/>
                    </a:lnTo>
                    <a:lnTo>
                      <a:pt x="6858000" y="3302000"/>
                    </a:lnTo>
                    <a:lnTo>
                      <a:pt x="0" y="3302000"/>
                    </a:lnTo>
                    <a:close/>
                  </a:path>
                </a:pathLst>
              </a:custGeom>
              <a:solidFill>
                <a:srgbClr val="161B22"/>
              </a:solidFill>
              <a:ln w="9525" cap="sq">
                <a:solidFill>
                  <a:srgbClr val="30363D"/>
                </a:solidFill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6858000" cy="3340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304800" y="469900"/>
              <a:ext cx="6096000" cy="3860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1725" b="1">
                  <a:solidFill>
                    <a:srgbClr val="2F81F7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EVIDENCE-DRIVEN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04800" y="1358900"/>
              <a:ext cx="6096000" cy="9010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8B949E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Connects investigation, source changes, Bob sessions and tests.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1963400" y="2476500"/>
            <a:ext cx="5143500" cy="2476500"/>
            <a:chOff x="0" y="0"/>
            <a:chExt cx="6858000" cy="3302000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6858000" cy="3302000"/>
              <a:chOff x="0" y="0"/>
              <a:chExt cx="6858000" cy="33020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6858000" cy="3302000"/>
              </a:xfrm>
              <a:custGeom>
                <a:avLst/>
                <a:gdLst/>
                <a:ahLst/>
                <a:cxnLst/>
                <a:rect l="l" t="t" r="r" b="b"/>
                <a:pathLst>
                  <a:path w="6858000" h="3302000">
                    <a:moveTo>
                      <a:pt x="0" y="0"/>
                    </a:moveTo>
                    <a:lnTo>
                      <a:pt x="6858000" y="0"/>
                    </a:lnTo>
                    <a:lnTo>
                      <a:pt x="6858000" y="3302000"/>
                    </a:lnTo>
                    <a:lnTo>
                      <a:pt x="0" y="3302000"/>
                    </a:lnTo>
                    <a:close/>
                  </a:path>
                </a:pathLst>
              </a:custGeom>
              <a:solidFill>
                <a:srgbClr val="161B22"/>
              </a:solidFill>
              <a:ln w="9525" cap="sq">
                <a:solidFill>
                  <a:srgbClr val="30363D"/>
                </a:solidFill>
                <a:prstDash val="solid"/>
                <a:miter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6858000" cy="3340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304800" y="469900"/>
              <a:ext cx="6096000" cy="3860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1725" b="1">
                  <a:solidFill>
                    <a:srgbClr val="2F81F7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VERIFICATION-FIRST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04800" y="1358900"/>
              <a:ext cx="6096000" cy="9010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8B949E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Does not stop at a fix; it validates the resulting code.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914400" y="6162675"/>
            <a:ext cx="8572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08">
                <a:solidFill>
                  <a:srgbClr val="2F81F7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FUTURE SCOPE · POTENTIAL, NOT IMPLEMENTED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14400" y="6772275"/>
            <a:ext cx="15240000" cy="885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250">
                <a:solidFill>
                  <a:srgbClr val="F0F6FC"/>
                </a:solidFill>
                <a:latin typeface="IBM Plex Sans"/>
                <a:ea typeface="IBM Plex Sans"/>
                <a:cs typeface="IBM Plex Sans"/>
                <a:sym typeface="IBM Plex Sans"/>
              </a:rPr>
              <a:t>Larger repositories  ·  Additional debugging patterns  ·  Automated code review</a:t>
            </a:r>
          </a:p>
          <a:p>
            <a:pPr algn="l">
              <a:lnSpc>
                <a:spcPts val="3600"/>
              </a:lnSpc>
            </a:pPr>
            <a:r>
              <a:rPr lang="en-US" sz="2250">
                <a:solidFill>
                  <a:srgbClr val="F0F6FC"/>
                </a:solidFill>
                <a:latin typeface="IBM Plex Sans"/>
                <a:ea typeface="IBM Plex Sans"/>
                <a:cs typeface="IBM Plex Sans"/>
                <a:sym typeface="IBM Plex Sans"/>
              </a:rPr>
              <a:t>Test-generation workflows  ·  Maintenance and release workflows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14400" y="1866900"/>
            <a:ext cx="16459200" cy="0"/>
          </a:xfrm>
          <a:prstGeom prst="line">
            <a:avLst/>
          </a:prstGeom>
          <a:ln w="9525" cap="flat">
            <a:solidFill>
              <a:srgbClr val="30363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818097" y="2976562"/>
            <a:ext cx="16670855" cy="2840382"/>
          </a:xfrm>
          <a:custGeom>
            <a:avLst/>
            <a:gdLst/>
            <a:ahLst/>
            <a:cxnLst/>
            <a:rect l="l" t="t" r="r" b="b"/>
            <a:pathLst>
              <a:path w="16670855" h="2840382">
                <a:moveTo>
                  <a:pt x="0" y="0"/>
                </a:moveTo>
                <a:lnTo>
                  <a:pt x="16670856" y="0"/>
                </a:lnTo>
                <a:lnTo>
                  <a:pt x="16670856" y="2840382"/>
                </a:lnTo>
                <a:lnTo>
                  <a:pt x="0" y="28403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914400" y="523875"/>
            <a:ext cx="8572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08">
                <a:solidFill>
                  <a:srgbClr val="2F81F7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ACTUAL PROTOTYPE · TASKFLOW API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14400" y="1028700"/>
            <a:ext cx="14763750" cy="653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 b="1">
                <a:solidFill>
                  <a:srgbClr val="F0F6FC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Live Demo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573500" y="581025"/>
            <a:ext cx="85725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b="1" spc="108">
                <a:solidFill>
                  <a:srgbClr val="2F81F7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847975" y="7558625"/>
            <a:ext cx="12573000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b="1">
                <a:solidFill>
                  <a:srgbClr val="F0F6FC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Demo uses the actual CodePilot prototype and TaskFlow API.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847975" y="8701625"/>
            <a:ext cx="12573000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>
                <a:solidFill>
                  <a:srgbClr val="F0F6FC"/>
                </a:solidFill>
                <a:latin typeface="IBM Plex Mono"/>
                <a:ea typeface="IBM Plex Mono"/>
                <a:cs typeface="IBM Plex Mono"/>
                <a:sym typeface="IBM Plex Mono"/>
              </a:rPr>
              <a:t>streamlit run app.py   →   select   →   inspect   →   test   →   verify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906000" y="952500"/>
            <a:ext cx="7429500" cy="7620000"/>
          </a:xfrm>
          <a:custGeom>
            <a:avLst/>
            <a:gdLst/>
            <a:ahLst/>
            <a:cxnLst/>
            <a:rect l="l" t="t" r="r" b="b"/>
            <a:pathLst>
              <a:path w="7429500" h="7620000">
                <a:moveTo>
                  <a:pt x="0" y="0"/>
                </a:moveTo>
                <a:lnTo>
                  <a:pt x="7429500" y="0"/>
                </a:lnTo>
                <a:lnTo>
                  <a:pt x="7429500" y="7620000"/>
                </a:lnTo>
                <a:lnTo>
                  <a:pt x="0" y="762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4" b="-64"/>
            </a:stretch>
          </a:blipFill>
          <a:ln cap="sq">
            <a:noFill/>
            <a:prstDash val="solid"/>
            <a:miter/>
          </a:ln>
        </p:spPr>
      </p:sp>
      <p:sp>
        <p:nvSpPr>
          <p:cNvPr id="3" name="TextBox 3"/>
          <p:cNvSpPr txBox="1"/>
          <p:nvPr/>
        </p:nvSpPr>
        <p:spPr>
          <a:xfrm>
            <a:off x="914400" y="1114425"/>
            <a:ext cx="809625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08">
                <a:solidFill>
                  <a:srgbClr val="2F81F7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FROM BUG REPORT TO VERIFIED FIX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14400" y="2543175"/>
            <a:ext cx="8572500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80"/>
              </a:lnSpc>
            </a:pPr>
            <a:r>
              <a:rPr lang="en-US" sz="8400" b="1">
                <a:solidFill>
                  <a:srgbClr val="F0F6FC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CODEPILOT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14400" y="3714750"/>
            <a:ext cx="742950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F0F6FC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AI-Assisted Developer Workflow with IBM Bob 2.0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14400" y="5381625"/>
            <a:ext cx="7620000" cy="39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4"/>
              </a:lnSpc>
            </a:pPr>
            <a:r>
              <a:rPr lang="en-US" sz="2325">
                <a:solidFill>
                  <a:srgbClr val="3FB950"/>
                </a:solidFill>
                <a:latin typeface="IBM Plex Mono"/>
                <a:ea typeface="IBM Plex Mono"/>
                <a:cs typeface="IBM Plex Mono"/>
                <a:sym typeface="IBM Plex Mono"/>
              </a:rPr>
              <a:t>Investigate. Fix. Test. Verify.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400" y="7753350"/>
            <a:ext cx="7810500" cy="955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7"/>
              </a:lnSpc>
            </a:pPr>
            <a:r>
              <a:rPr lang="en-US" sz="1650">
                <a:solidFill>
                  <a:srgbClr val="8B949E"/>
                </a:solidFill>
                <a:latin typeface="IBM Plex Sans"/>
                <a:ea typeface="IBM Plex Sans"/>
                <a:cs typeface="IBM Plex Sans"/>
                <a:sym typeface="IBM Plex Sans"/>
              </a:rPr>
              <a:t>TEAM CODEPILOT</a:t>
            </a:r>
          </a:p>
          <a:p>
            <a:pPr algn="l">
              <a:lnSpc>
                <a:spcPts val="2557"/>
              </a:lnSpc>
            </a:pPr>
            <a:r>
              <a:rPr lang="en-US" sz="1650">
                <a:solidFill>
                  <a:srgbClr val="8B949E"/>
                </a:solidFill>
                <a:latin typeface="IBM Plex Sans"/>
                <a:ea typeface="IBM Plex Sans"/>
                <a:cs typeface="IBM Plex Sans"/>
                <a:sym typeface="IBM Plex Sans"/>
              </a:rPr>
              <a:t>Patel Princekumar · Rudra Patel · Abhishek Chikhaliya</a:t>
            </a:r>
          </a:p>
          <a:p>
            <a:pPr algn="l">
              <a:lnSpc>
                <a:spcPts val="2557"/>
              </a:lnSpc>
            </a:pPr>
            <a:r>
              <a:rPr lang="en-US" sz="1650">
                <a:solidFill>
                  <a:srgbClr val="8B949E"/>
                </a:solidFill>
                <a:latin typeface="IBM Plex Sans"/>
                <a:ea typeface="IBM Plex Sans"/>
                <a:cs typeface="IBM Plex Sans"/>
                <a:sym typeface="IBM Plex Sans"/>
              </a:rPr>
              <a:t>IBM Bob 2.0 Hackathon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897</Words>
  <Application>Microsoft Office PowerPoint</Application>
  <PresentationFormat>Custom</PresentationFormat>
  <Paragraphs>185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IBM Plex Mono</vt:lpstr>
      <vt:lpstr>IBM Plex Sans</vt:lpstr>
      <vt:lpstr>Arial</vt:lpstr>
      <vt:lpstr>IBM Plex Mono Bold</vt:lpstr>
      <vt:lpstr>Calibri</vt:lpstr>
      <vt:lpstr>IBM Plex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CodePilot Hackathon</dc:title>
  <cp:lastModifiedBy>24CS073 PRINCEKUMAR PATEL</cp:lastModifiedBy>
  <cp:revision>6</cp:revision>
  <dcterms:created xsi:type="dcterms:W3CDTF">2006-08-16T00:00:00Z</dcterms:created>
  <dcterms:modified xsi:type="dcterms:W3CDTF">2026-09-26T09:04:25Z</dcterms:modified>
  <dc:identifier>DAHWSDpnndk</dc:identifier>
</cp:coreProperties>
</file>